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9" r:id="rId4"/>
    <p:sldId id="275" r:id="rId5"/>
    <p:sldId id="260" r:id="rId6"/>
    <p:sldId id="261" r:id="rId7"/>
    <p:sldId id="262" r:id="rId8"/>
    <p:sldId id="263" r:id="rId9"/>
    <p:sldId id="273" r:id="rId10"/>
    <p:sldId id="265" r:id="rId11"/>
    <p:sldId id="264" r:id="rId12"/>
    <p:sldId id="266" r:id="rId13"/>
    <p:sldId id="267" r:id="rId14"/>
    <p:sldId id="268" r:id="rId15"/>
    <p:sldId id="271" r:id="rId16"/>
    <p:sldId id="269" r:id="rId17"/>
    <p:sldId id="274" r:id="rId18"/>
    <p:sldId id="272" r:id="rId19"/>
    <p:sldId id="276" r:id="rId20"/>
    <p:sldId id="257" r:id="rId21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101"/>
    <a:srgbClr val="034099"/>
    <a:srgbClr val="FFFFB5"/>
    <a:srgbClr val="9B953E"/>
    <a:srgbClr val="B0A945"/>
    <a:srgbClr val="054CB3"/>
    <a:srgbClr val="0753C1"/>
    <a:srgbClr val="1B5F9B"/>
    <a:srgbClr val="00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687" autoAdjust="0"/>
  </p:normalViewPr>
  <p:slideViewPr>
    <p:cSldViewPr snapToGrid="0" snapToObjects="1">
      <p:cViewPr>
        <p:scale>
          <a:sx n="76" d="100"/>
          <a:sy n="76" d="100"/>
        </p:scale>
        <p:origin x="-80" y="-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-285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B1913-DB2E-4032-9377-98BAB51575B4}" type="datetimeFigureOut">
              <a:rPr lang="es-CO" smtClean="0"/>
              <a:t>27/04/17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E56B3-DB5C-4CC8-B5FE-5161F259DE4A}" type="slidenum">
              <a:rPr lang="es-CO" smtClean="0"/>
              <a:t>‹Nr.›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0791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3A6CD-A7B1-A547-9EAB-4729027F8058}" type="datetimeFigureOut">
              <a:rPr lang="es-ES" smtClean="0"/>
              <a:t>27/04/17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AFCE2-6CAC-C340-B390-AA8B227119C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76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600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/>
          <p:cNvCxnSpPr/>
          <p:nvPr userDrawn="1"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/>
          <p:cNvCxnSpPr/>
          <p:nvPr userDrawn="1"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Resultado de imagen para escudos unicauc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G:\Copia de 226282_10150169846844116_673844115_6760939_1516401_n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cxnSp>
        <p:nvCxnSpPr>
          <p:cNvPr id="6" name="Conector recto 5"/>
          <p:cNvCxnSpPr/>
          <p:nvPr userDrawn="1"/>
        </p:nvCxnSpPr>
        <p:spPr>
          <a:xfrm flipH="1">
            <a:off x="200508" y="6185129"/>
            <a:ext cx="8805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12 Rectángulo redondeado"/>
          <p:cNvSpPr/>
          <p:nvPr userDrawn="1"/>
        </p:nvSpPr>
        <p:spPr>
          <a:xfrm>
            <a:off x="1027530" y="6308759"/>
            <a:ext cx="1056951" cy="465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Contexto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12 Rectángulo redondeado"/>
          <p:cNvSpPr/>
          <p:nvPr userDrawn="1"/>
        </p:nvSpPr>
        <p:spPr>
          <a:xfrm>
            <a:off x="2236881" y="6308760"/>
            <a:ext cx="1221882" cy="465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Definiciones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12 Rectángulo redondeado"/>
          <p:cNvSpPr/>
          <p:nvPr userDrawn="1"/>
        </p:nvSpPr>
        <p:spPr>
          <a:xfrm>
            <a:off x="3611163" y="6308759"/>
            <a:ext cx="1221882" cy="465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Sintaxis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12 Rectángulo redondeado"/>
          <p:cNvSpPr/>
          <p:nvPr userDrawn="1"/>
        </p:nvSpPr>
        <p:spPr>
          <a:xfrm>
            <a:off x="5012594" y="6308760"/>
            <a:ext cx="1221882" cy="465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12 Rectángulo redondeado"/>
          <p:cNvSpPr/>
          <p:nvPr userDrawn="1"/>
        </p:nvSpPr>
        <p:spPr>
          <a:xfrm>
            <a:off x="6386876" y="6308760"/>
            <a:ext cx="1221882" cy="465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Ejercicios</a:t>
            </a:r>
            <a:r>
              <a:rPr lang="es-ES" sz="1200" b="1" baseline="0" dirty="0" smtClean="0">
                <a:solidFill>
                  <a:schemeClr val="bg1"/>
                </a:solidFill>
                <a:latin typeface="Arial"/>
                <a:cs typeface="Arial"/>
              </a:rPr>
              <a:t> prácticos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13" name="Conector recto 12"/>
          <p:cNvCxnSpPr/>
          <p:nvPr userDrawn="1"/>
        </p:nvCxnSpPr>
        <p:spPr>
          <a:xfrm>
            <a:off x="8520215" y="6268689"/>
            <a:ext cx="0" cy="566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862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FD01-FA3B-7243-95B7-E30525AD7C4B}" type="datetimeFigureOut">
              <a:rPr lang="es-ES" smtClean="0"/>
              <a:t>27/04/17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BD473-FC54-0442-B063-062B6F9E394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02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1.jpe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hyperlink" Target="http://dbpedia.org/resource/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hyperlink" Target="http://es.dbpedia.org/page/Lionel_Messi" TargetMode="External"/><Relationship Id="rId5" Type="http://schemas.openxmlformats.org/officeDocument/2006/relationships/hyperlink" Target="http://dbpedia.org/sparql/" TargetMode="External"/><Relationship Id="rId6" Type="http://schemas.openxmlformats.org/officeDocument/2006/relationships/hyperlink" Target="http://es.dbpedia.org/sparql" TargetMode="External"/><Relationship Id="rId7" Type="http://schemas.openxmlformats.org/officeDocument/2006/relationships/hyperlink" Target="http://dbpedia.org/snorql/" TargetMode="External"/><Relationship Id="rId8" Type="http://schemas.openxmlformats.org/officeDocument/2006/relationships/hyperlink" Target="http://legacy.yasgui.org/" TargetMode="External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1956904"/>
            <a:ext cx="6997700" cy="1820862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SPARQL (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S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imple 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P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rotocol 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a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nd 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R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DF 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Q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uery </a:t>
            </a:r>
            <a:r>
              <a:rPr lang="es-ES" b="1" dirty="0" smtClean="0">
                <a:solidFill>
                  <a:srgbClr val="FF0000"/>
                </a:solidFill>
                <a:latin typeface="+mj-lt"/>
                <a:cs typeface="Calibri (título)"/>
              </a:rPr>
              <a:t>L</a:t>
            </a:r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anguage)</a:t>
            </a:r>
            <a:endParaRPr lang="es-ES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593873" y="4322606"/>
            <a:ext cx="6047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>
                <a:cs typeface="Calibri (cuerpo)"/>
              </a:rPr>
              <a:t>Ing. Juan Manuel Chagüendo Benavides</a:t>
            </a:r>
            <a:endParaRPr lang="es-ES" sz="2400" b="1" dirty="0">
              <a:cs typeface="Calibri (cuerpo)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64857" y="5657847"/>
            <a:ext cx="702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>
                <a:cs typeface="Calibri (cuerpo)"/>
              </a:rPr>
              <a:t>Facultad de Ingeniería Electrónica y Telecomunicaciones</a:t>
            </a:r>
            <a:endParaRPr lang="es-ES" sz="2000" b="1" dirty="0">
              <a:cs typeface="Calibri (cuerpo)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081312" y="5364034"/>
            <a:ext cx="6965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>
                <a:cs typeface="Calibri (cuerpo)"/>
              </a:rPr>
              <a:t>Maestría en Computación</a:t>
            </a:r>
            <a:endParaRPr lang="es-ES" sz="2000" b="1" dirty="0">
              <a:cs typeface="Calibri (cuerpo)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496234" y="5980837"/>
            <a:ext cx="604780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cs typeface="Calibri (cuerpo)"/>
              </a:rPr>
              <a:t>Abril de 2017</a:t>
            </a:r>
          </a:p>
          <a:p>
            <a:pPr algn="ctr"/>
            <a:r>
              <a:rPr lang="es-ES" b="1" dirty="0">
                <a:cs typeface="Calibri (cuerpo)"/>
              </a:rPr>
              <a:t>Popayán-Cauca </a:t>
            </a:r>
          </a:p>
          <a:p>
            <a:pPr algn="ctr"/>
            <a:endParaRPr lang="es-ES" sz="1500" b="1" dirty="0">
              <a:cs typeface="Calibri (cuerpo)"/>
            </a:endParaRPr>
          </a:p>
        </p:txBody>
      </p:sp>
      <p:pic>
        <p:nvPicPr>
          <p:cNvPr id="1026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0" y="111210"/>
            <a:ext cx="863959" cy="97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166814"/>
            <a:ext cx="988544" cy="919436"/>
          </a:xfrm>
          <a:prstGeom prst="rect">
            <a:avLst/>
          </a:prstGeom>
          <a:noFill/>
        </p:spPr>
      </p:pic>
      <p:cxnSp>
        <p:nvCxnSpPr>
          <p:cNvPr id="5" name="Conector recto 4"/>
          <p:cNvCxnSpPr/>
          <p:nvPr/>
        </p:nvCxnSpPr>
        <p:spPr>
          <a:xfrm flipH="1">
            <a:off x="416348" y="1956904"/>
            <a:ext cx="83879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416348" y="3767736"/>
            <a:ext cx="8387919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agen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89" y="434503"/>
            <a:ext cx="2290020" cy="45610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482" y="434504"/>
            <a:ext cx="2352536" cy="4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19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890607"/>
            <a:ext cx="6997700" cy="1820862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Agenda</a:t>
            </a:r>
            <a:endParaRPr lang="es-ES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pic>
        <p:nvPicPr>
          <p:cNvPr id="13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5117" y="166814"/>
            <a:ext cx="988544" cy="919436"/>
          </a:xfrm>
          <a:prstGeom prst="rect">
            <a:avLst/>
          </a:prstGeom>
          <a:noFill/>
        </p:spPr>
      </p:pic>
      <p:cxnSp>
        <p:nvCxnSpPr>
          <p:cNvPr id="5" name="Conector recto 4"/>
          <p:cNvCxnSpPr/>
          <p:nvPr/>
        </p:nvCxnSpPr>
        <p:spPr>
          <a:xfrm flipH="1">
            <a:off x="416348" y="1472269"/>
            <a:ext cx="83879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416348" y="2236955"/>
            <a:ext cx="8387919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89" y="434503"/>
            <a:ext cx="2290020" cy="456104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2688913" y="2711469"/>
            <a:ext cx="48812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u"/>
            </a:pPr>
            <a:r>
              <a:rPr lang="es-ES" sz="3200" b="1" dirty="0" smtClean="0">
                <a:solidFill>
                  <a:schemeClr val="accent1"/>
                </a:solidFill>
                <a:cs typeface="Calibri (cuerpo)"/>
              </a:rPr>
              <a:t> </a:t>
            </a:r>
            <a:r>
              <a:rPr lang="es-ES" sz="4000" b="1" dirty="0" smtClean="0">
                <a:cs typeface="Calibri (cuerpo)"/>
              </a:rPr>
              <a:t>Contexto</a:t>
            </a:r>
          </a:p>
          <a:p>
            <a:pPr marL="342900" indent="-342900" algn="just">
              <a:buFont typeface="Wingdings" charset="2"/>
              <a:buChar char="u"/>
            </a:pPr>
            <a:r>
              <a:rPr lang="es-ES" sz="3200" b="1" dirty="0" smtClean="0">
                <a:solidFill>
                  <a:schemeClr val="accent1"/>
                </a:solidFill>
                <a:cs typeface="Calibri (cuerpo)"/>
              </a:rPr>
              <a:t> </a:t>
            </a:r>
            <a:r>
              <a:rPr lang="es-ES" sz="4000" b="1" dirty="0" smtClean="0">
                <a:cs typeface="Calibri (cuerpo)"/>
              </a:rPr>
              <a:t>Definiciones</a:t>
            </a:r>
          </a:p>
          <a:p>
            <a:pPr marL="342900" indent="-342900" algn="just">
              <a:buFont typeface="Wingdings" charset="2"/>
              <a:buChar char="u"/>
            </a:pPr>
            <a:r>
              <a:rPr lang="es-ES" sz="3200" b="1" dirty="0" smtClean="0">
                <a:solidFill>
                  <a:srgbClr val="4F81BD"/>
                </a:solidFill>
                <a:cs typeface="Calibri (cuerpo)"/>
              </a:rPr>
              <a:t> </a:t>
            </a:r>
            <a:r>
              <a:rPr lang="es-ES" sz="4000" b="1" dirty="0" smtClean="0">
                <a:solidFill>
                  <a:srgbClr val="000000"/>
                </a:solidFill>
                <a:cs typeface="Calibri (cuerpo)"/>
              </a:rPr>
              <a:t>Sintaxis</a:t>
            </a:r>
          </a:p>
          <a:p>
            <a:pPr marL="342900" indent="-342900" algn="just">
              <a:buFont typeface="Wingdings" charset="2"/>
              <a:buChar char="u"/>
            </a:pPr>
            <a:r>
              <a:rPr lang="es-ES" sz="3200" b="1" dirty="0" smtClean="0">
                <a:solidFill>
                  <a:srgbClr val="4F81BD"/>
                </a:solidFill>
                <a:cs typeface="Calibri (cuerpo)"/>
              </a:rPr>
              <a:t> </a:t>
            </a:r>
            <a:r>
              <a:rPr lang="es-ES" sz="4000" b="1" dirty="0" smtClean="0">
                <a:solidFill>
                  <a:srgbClr val="000000"/>
                </a:solidFill>
                <a:cs typeface="Calibri (cuerpo)"/>
              </a:rPr>
              <a:t>Ejemplos</a:t>
            </a:r>
          </a:p>
          <a:p>
            <a:pPr marL="342900" indent="-342900" algn="just">
              <a:buFont typeface="Wingdings" charset="2"/>
              <a:buChar char="u"/>
            </a:pPr>
            <a:r>
              <a:rPr lang="es-ES" sz="3200" b="1" dirty="0" smtClean="0">
                <a:solidFill>
                  <a:srgbClr val="4F81BD"/>
                </a:solidFill>
                <a:cs typeface="Calibri (cuerpo)"/>
              </a:rPr>
              <a:t> </a:t>
            </a:r>
            <a:r>
              <a:rPr lang="es-ES" sz="4000" b="1" dirty="0" smtClean="0">
                <a:solidFill>
                  <a:srgbClr val="000000"/>
                </a:solidFill>
                <a:cs typeface="Calibri (cuerpo)"/>
              </a:rPr>
              <a:t>Ejercicio práctico</a:t>
            </a:r>
            <a:endParaRPr lang="es-ES" sz="4000" b="1" dirty="0">
              <a:solidFill>
                <a:srgbClr val="000000"/>
              </a:solidFill>
              <a:cs typeface="Calibri (cuerpo)"/>
            </a:endParaRPr>
          </a:p>
        </p:txBody>
      </p:sp>
      <p:pic>
        <p:nvPicPr>
          <p:cNvPr id="23" name="Picture 2" descr="Resultado de imagen para escudos unicau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0" y="111210"/>
            <a:ext cx="863959" cy="97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482" y="434504"/>
            <a:ext cx="2352536" cy="4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05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Tim Berners-Lee dijo: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18" name="CuadroTexto 17"/>
          <p:cNvSpPr txBox="1"/>
          <p:nvPr/>
        </p:nvSpPr>
        <p:spPr>
          <a:xfrm>
            <a:off x="3375218" y="5048388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Fuente:</a:t>
            </a:r>
            <a:r>
              <a:rPr lang="es-ES" dirty="0" smtClean="0"/>
              <a:t> </a:t>
            </a:r>
            <a:r>
              <a:rPr lang="es-ES" dirty="0" smtClean="0"/>
              <a:t>www.w3</a:t>
            </a:r>
            <a:r>
              <a:rPr lang="es-ES" dirty="0" smtClean="0"/>
              <a:t>c.es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5" name="12 Rectángulo redondeado"/>
          <p:cNvSpPr/>
          <p:nvPr/>
        </p:nvSpPr>
        <p:spPr>
          <a:xfrm>
            <a:off x="1027530" y="6308759"/>
            <a:ext cx="1056951" cy="46568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Contexto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275698" y="1508958"/>
            <a:ext cx="85285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 smtClean="0"/>
              <a:t>“Pretender usar la Web Sem</a:t>
            </a:r>
            <a:r>
              <a:rPr lang="es-ES" sz="3200" dirty="0" smtClean="0"/>
              <a:t>ántica sin </a:t>
            </a:r>
            <a:r>
              <a:rPr lang="es-ES" sz="3200" u="sng" dirty="0" smtClean="0">
                <a:solidFill>
                  <a:schemeClr val="accent2"/>
                </a:solidFill>
              </a:rPr>
              <a:t>SPARQL</a:t>
            </a:r>
            <a:r>
              <a:rPr lang="es-ES" sz="3200" dirty="0" smtClean="0"/>
              <a:t> es como pretender usar una base de datos relacional sin SQL</a:t>
            </a:r>
            <a:r>
              <a:rPr lang="es-ES" sz="3200" dirty="0" smtClean="0"/>
              <a:t>” </a:t>
            </a:r>
          </a:p>
          <a:p>
            <a:pPr algn="just"/>
            <a:endParaRPr lang="es-ES" sz="3200" dirty="0">
              <a:solidFill>
                <a:schemeClr val="accent1"/>
              </a:solidFill>
            </a:endParaRPr>
          </a:p>
          <a:p>
            <a:pPr algn="just"/>
            <a:r>
              <a:rPr lang="es-ES" sz="3200" dirty="0" smtClean="0"/>
              <a:t>“</a:t>
            </a:r>
            <a:r>
              <a:rPr lang="es-ES" sz="3200" u="sng" dirty="0" smtClean="0">
                <a:solidFill>
                  <a:srgbClr val="C0504D"/>
                </a:solidFill>
              </a:rPr>
              <a:t>SPARQL</a:t>
            </a:r>
            <a:r>
              <a:rPr lang="es-ES" sz="3200" dirty="0" smtClean="0"/>
              <a:t> hace posible consultar informaci</a:t>
            </a:r>
            <a:r>
              <a:rPr lang="es-ES" sz="3200" dirty="0" smtClean="0"/>
              <a:t>ón desde base de datos y otros orígenes de datos en sus estados primitivos a través de la web</a:t>
            </a:r>
            <a:r>
              <a:rPr lang="es-ES" sz="3200" dirty="0" smtClean="0"/>
              <a:t>”</a:t>
            </a:r>
            <a:endParaRPr lang="es-ES" sz="3200" dirty="0" smtClean="0"/>
          </a:p>
        </p:txBody>
      </p:sp>
    </p:spTree>
    <p:extLst>
      <p:ext uri="{BB962C8B-B14F-4D97-AF65-F5344CB8AC3E}">
        <p14:creationId xmlns:p14="http://schemas.microsoft.com/office/powerpoint/2010/main" val="269334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Estándares para la web semántica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486" y="1270077"/>
            <a:ext cx="4318823" cy="4534764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3375218" y="5731403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Fuente:</a:t>
            </a:r>
            <a:r>
              <a:rPr lang="es-ES" dirty="0" smtClean="0"/>
              <a:t> www.w3</a:t>
            </a:r>
            <a:r>
              <a:rPr lang="es-ES" dirty="0"/>
              <a:t>.</a:t>
            </a:r>
            <a:r>
              <a:rPr lang="es-ES" dirty="0" smtClean="0"/>
              <a:t>org </a:t>
            </a:r>
            <a:endParaRPr lang="es-ES" dirty="0"/>
          </a:p>
        </p:txBody>
      </p:sp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5" name="12 Rectángulo redondeado"/>
          <p:cNvSpPr/>
          <p:nvPr/>
        </p:nvSpPr>
        <p:spPr>
          <a:xfrm>
            <a:off x="1027530" y="6308759"/>
            <a:ext cx="1056951" cy="46568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Contexto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Marco 25"/>
          <p:cNvSpPr/>
          <p:nvPr/>
        </p:nvSpPr>
        <p:spPr>
          <a:xfrm>
            <a:off x="2465032" y="3208617"/>
            <a:ext cx="1060568" cy="1153095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s-ES">
              <a:ln w="28575" cmpd="sng">
                <a:solidFill>
                  <a:schemeClr val="tx1"/>
                </a:solidFill>
              </a:ln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9" name="Flecha derecha 28"/>
          <p:cNvSpPr/>
          <p:nvPr/>
        </p:nvSpPr>
        <p:spPr>
          <a:xfrm>
            <a:off x="100254" y="3609691"/>
            <a:ext cx="2121407" cy="48463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/>
          <p:cNvSpPr txBox="1"/>
          <p:nvPr/>
        </p:nvSpPr>
        <p:spPr>
          <a:xfrm>
            <a:off x="0" y="3038501"/>
            <a:ext cx="2221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Lenguaje de consulta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41476910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Archivo RDF almacenado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5" name="12 Rectángulo redondeado"/>
          <p:cNvSpPr/>
          <p:nvPr/>
        </p:nvSpPr>
        <p:spPr>
          <a:xfrm>
            <a:off x="1027530" y="6308759"/>
            <a:ext cx="1056951" cy="46568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Contexto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275698" y="1474788"/>
            <a:ext cx="852857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/>
              <a:t>Se tiene un archivo RDF almacenado ya sea en una base de datos de grafo (Apache Jena, 4Store), base de datos relacional (Open Link Virtuoso, Apache Jena), IMDb, etcétera.</a:t>
            </a:r>
            <a:endParaRPr lang="es-ES" sz="2400" dirty="0">
              <a:solidFill>
                <a:schemeClr val="accent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80" y="3109615"/>
            <a:ext cx="1478747" cy="1478747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17471" y="4599439"/>
            <a:ext cx="13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Archivo RDF</a:t>
            </a:r>
            <a:endParaRPr lang="es-ES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932" y="2975921"/>
            <a:ext cx="6515678" cy="283969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Abrir llave 6"/>
          <p:cNvSpPr/>
          <p:nvPr/>
        </p:nvSpPr>
        <p:spPr>
          <a:xfrm>
            <a:off x="1867264" y="2775377"/>
            <a:ext cx="565922" cy="3224067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/>
          <p:cNvSpPr txBox="1"/>
          <p:nvPr/>
        </p:nvSpPr>
        <p:spPr>
          <a:xfrm>
            <a:off x="4327631" y="5731403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Fuente:</a:t>
            </a:r>
            <a:r>
              <a:rPr lang="es-ES" dirty="0" smtClean="0"/>
              <a:t> www.uc.cl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7489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Acceso a los datos RDF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5" name="12 Rectángulo redondeado"/>
          <p:cNvSpPr/>
          <p:nvPr/>
        </p:nvSpPr>
        <p:spPr>
          <a:xfrm>
            <a:off x="1027530" y="6308759"/>
            <a:ext cx="1056951" cy="46568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Contexto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58" y="2729171"/>
            <a:ext cx="1680298" cy="206805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32" y="1958071"/>
            <a:ext cx="2144505" cy="402095"/>
          </a:xfrm>
          <a:prstGeom prst="rect">
            <a:avLst/>
          </a:prstGeom>
        </p:spPr>
      </p:pic>
      <p:sp>
        <p:nvSpPr>
          <p:cNvPr id="11" name="Flecha izquierda 10"/>
          <p:cNvSpPr/>
          <p:nvPr/>
        </p:nvSpPr>
        <p:spPr>
          <a:xfrm>
            <a:off x="3158001" y="3497065"/>
            <a:ext cx="2205588" cy="529494"/>
          </a:xfrm>
          <a:prstGeom prst="lef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/>
          <p:cNvSpPr txBox="1"/>
          <p:nvPr/>
        </p:nvSpPr>
        <p:spPr>
          <a:xfrm>
            <a:off x="3425345" y="2734232"/>
            <a:ext cx="18181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smtClean="0"/>
              <a:t>Consultar</a:t>
            </a:r>
            <a:endParaRPr lang="es-ES" sz="3200" b="1" dirty="0"/>
          </a:p>
        </p:txBody>
      </p:sp>
      <p:sp>
        <p:nvSpPr>
          <p:cNvPr id="21" name="CuadroTexto 20"/>
          <p:cNvSpPr txBox="1"/>
          <p:nvPr/>
        </p:nvSpPr>
        <p:spPr>
          <a:xfrm>
            <a:off x="242207" y="4797230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Fuente:</a:t>
            </a:r>
            <a:r>
              <a:rPr lang="es-ES" dirty="0" smtClean="0"/>
              <a:t> </a:t>
            </a:r>
            <a:r>
              <a:rPr lang="es-ES" dirty="0" err="1" smtClean="0"/>
              <a:t>www.pixabay.com</a:t>
            </a:r>
            <a:endParaRPr lang="es-ES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051" y="3390986"/>
            <a:ext cx="3278217" cy="63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81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Definiciones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5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75698" y="1474788"/>
            <a:ext cx="8528570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500" b="1" dirty="0" smtClean="0">
                <a:solidFill>
                  <a:schemeClr val="accent1"/>
                </a:solidFill>
              </a:rPr>
              <a:t>TRIPLE: </a:t>
            </a:r>
            <a:r>
              <a:rPr lang="es-ES" sz="2500" dirty="0">
                <a:solidFill>
                  <a:srgbClr val="000000"/>
                </a:solidFill>
              </a:rPr>
              <a:t>Sentencia que consiste en dos nodos (</a:t>
            </a:r>
            <a:r>
              <a:rPr lang="es-ES" sz="2500" u="sng" dirty="0">
                <a:solidFill>
                  <a:schemeClr val="accent2"/>
                </a:solidFill>
              </a:rPr>
              <a:t>sujeto y objeto</a:t>
            </a:r>
            <a:r>
              <a:rPr lang="es-ES" sz="2500" dirty="0">
                <a:solidFill>
                  <a:srgbClr val="000000"/>
                </a:solidFill>
              </a:rPr>
              <a:t>) unidos por un arco (</a:t>
            </a:r>
            <a:r>
              <a:rPr lang="es-ES" sz="2500" u="sng" dirty="0">
                <a:solidFill>
                  <a:srgbClr val="C0504D"/>
                </a:solidFill>
              </a:rPr>
              <a:t>predicado</a:t>
            </a:r>
            <a:r>
              <a:rPr lang="es-ES" sz="2500" dirty="0">
                <a:solidFill>
                  <a:srgbClr val="000000"/>
                </a:solidFill>
              </a:rPr>
              <a:t>), donde los nodos representan recursos. </a:t>
            </a:r>
            <a:r>
              <a:rPr lang="es-ES" sz="2500" i="1" dirty="0" err="1">
                <a:solidFill>
                  <a:srgbClr val="000000"/>
                </a:solidFill>
              </a:rPr>
              <a:t>Castells</a:t>
            </a:r>
            <a:r>
              <a:rPr lang="es-ES" sz="2500" i="1" dirty="0">
                <a:solidFill>
                  <a:srgbClr val="000000"/>
                </a:solidFill>
              </a:rPr>
              <a:t> Pablo, Universidad Autónoma de Madrid</a:t>
            </a:r>
            <a:r>
              <a:rPr lang="es-ES" sz="2500" i="1" dirty="0" smtClean="0">
                <a:solidFill>
                  <a:srgbClr val="000000"/>
                </a:solidFill>
              </a:rPr>
              <a:t>.</a:t>
            </a:r>
            <a:endParaRPr lang="es-ES" sz="2500" b="1" dirty="0" smtClean="0">
              <a:solidFill>
                <a:srgbClr val="4F81BD"/>
              </a:solidFill>
            </a:endParaRPr>
          </a:p>
          <a:p>
            <a:pPr algn="just"/>
            <a:r>
              <a:rPr lang="es-ES" sz="2500" b="1" dirty="0" smtClean="0">
                <a:solidFill>
                  <a:srgbClr val="4F81BD"/>
                </a:solidFill>
              </a:rPr>
              <a:t>RDF: </a:t>
            </a:r>
            <a:r>
              <a:rPr lang="es-ES" sz="2500" b="1" dirty="0" smtClean="0">
                <a:solidFill>
                  <a:srgbClr val="000000"/>
                </a:solidFill>
              </a:rPr>
              <a:t>“</a:t>
            </a:r>
            <a:r>
              <a:rPr lang="es-ES" sz="2500" dirty="0" smtClean="0">
                <a:solidFill>
                  <a:srgbClr val="000000"/>
                </a:solidFill>
              </a:rPr>
              <a:t>Es un modelo estándar para el </a:t>
            </a:r>
            <a:r>
              <a:rPr lang="es-ES" sz="2500" u="sng" dirty="0" smtClean="0">
                <a:solidFill>
                  <a:srgbClr val="C0504D"/>
                </a:solidFill>
              </a:rPr>
              <a:t>intercambio</a:t>
            </a:r>
            <a:r>
              <a:rPr lang="es-ES" sz="2500" dirty="0" smtClean="0">
                <a:solidFill>
                  <a:srgbClr val="000000"/>
                </a:solidFill>
              </a:rPr>
              <a:t> de datos en la web.” </a:t>
            </a:r>
            <a:r>
              <a:rPr lang="es-ES" sz="2500" i="1" dirty="0" smtClean="0">
                <a:solidFill>
                  <a:srgbClr val="000000"/>
                </a:solidFill>
              </a:rPr>
              <a:t>W3C.</a:t>
            </a:r>
          </a:p>
          <a:p>
            <a:pPr algn="just"/>
            <a:r>
              <a:rPr lang="es-ES" sz="2500" b="1" dirty="0" smtClean="0">
                <a:solidFill>
                  <a:srgbClr val="4F81BD"/>
                </a:solidFill>
              </a:rPr>
              <a:t>RDFS: </a:t>
            </a:r>
            <a:r>
              <a:rPr lang="es-ES" sz="2500" b="1" dirty="0" smtClean="0"/>
              <a:t>“</a:t>
            </a:r>
            <a:r>
              <a:rPr lang="es-ES" sz="2500" dirty="0" smtClean="0"/>
              <a:t>Es una </a:t>
            </a:r>
            <a:r>
              <a:rPr lang="es-ES" sz="2500" u="sng" dirty="0" smtClean="0">
                <a:solidFill>
                  <a:srgbClr val="C0504D"/>
                </a:solidFill>
              </a:rPr>
              <a:t>extensión</a:t>
            </a:r>
            <a:r>
              <a:rPr lang="es-ES" sz="2500" dirty="0" smtClean="0"/>
              <a:t> semántica de RDF y proporciona un vocabulario de datos para datos RDF.” </a:t>
            </a:r>
            <a:r>
              <a:rPr lang="es-ES" sz="2500" i="1" dirty="0" smtClean="0"/>
              <a:t>W3C.</a:t>
            </a:r>
          </a:p>
          <a:p>
            <a:pPr algn="just"/>
            <a:r>
              <a:rPr lang="es-ES" sz="2500" b="1" dirty="0" smtClean="0">
                <a:solidFill>
                  <a:schemeClr val="accent1"/>
                </a:solidFill>
              </a:rPr>
              <a:t>SPARQL:</a:t>
            </a:r>
            <a:r>
              <a:rPr lang="es-ES" sz="2500" i="1" dirty="0" smtClean="0"/>
              <a:t> </a:t>
            </a:r>
            <a:r>
              <a:rPr lang="es-ES" sz="2500" dirty="0"/>
              <a:t>Es un </a:t>
            </a:r>
            <a:r>
              <a:rPr lang="es-ES" sz="2500" u="sng" dirty="0">
                <a:solidFill>
                  <a:srgbClr val="C0504D"/>
                </a:solidFill>
              </a:rPr>
              <a:t>lenguaje de consulta </a:t>
            </a:r>
            <a:r>
              <a:rPr lang="es-ES" sz="2500" dirty="0"/>
              <a:t>recomendado por la W3C para el acceso a datos RDF</a:t>
            </a:r>
            <a:r>
              <a:rPr lang="es-ES" sz="2500" dirty="0" smtClean="0"/>
              <a:t>. </a:t>
            </a:r>
            <a:r>
              <a:rPr lang="es-ES" sz="2500" i="1" dirty="0" smtClean="0"/>
              <a:t>www.uc.cl</a:t>
            </a:r>
            <a:r>
              <a:rPr lang="es-ES" sz="2500" dirty="0" smtClean="0"/>
              <a:t>  </a:t>
            </a:r>
          </a:p>
          <a:p>
            <a:pPr algn="just"/>
            <a:r>
              <a:rPr lang="es-ES" sz="2500" dirty="0" smtClean="0"/>
              <a:t>- Su </a:t>
            </a:r>
            <a:r>
              <a:rPr lang="es-ES" sz="2500" dirty="0"/>
              <a:t>última versión se encuentra en</a:t>
            </a:r>
            <a:r>
              <a:rPr lang="es-ES" sz="2500" b="1" dirty="0"/>
              <a:t>: </a:t>
            </a:r>
            <a:r>
              <a:rPr lang="es-ES" sz="2500" b="1" dirty="0">
                <a:solidFill>
                  <a:schemeClr val="accent1"/>
                </a:solidFill>
              </a:rPr>
              <a:t>www.w3.org/TR/sparql11-query</a:t>
            </a:r>
            <a:r>
              <a:rPr lang="es-ES" sz="2500" b="1" dirty="0" smtClean="0">
                <a:solidFill>
                  <a:schemeClr val="accent1"/>
                </a:solidFill>
              </a:rPr>
              <a:t>/</a:t>
            </a:r>
          </a:p>
          <a:p>
            <a:pPr algn="just"/>
            <a:endParaRPr lang="es-ES" sz="2400" i="1" dirty="0" smtClean="0"/>
          </a:p>
          <a:p>
            <a:pPr algn="just"/>
            <a:endParaRPr lang="es-ES" sz="2400" dirty="0">
              <a:solidFill>
                <a:srgbClr val="4F81BD"/>
              </a:solidFill>
            </a:endParaRPr>
          </a:p>
        </p:txBody>
      </p:sp>
      <p:sp>
        <p:nvSpPr>
          <p:cNvPr id="17" name="12 Rectángulo redondeado"/>
          <p:cNvSpPr/>
          <p:nvPr/>
        </p:nvSpPr>
        <p:spPr>
          <a:xfrm>
            <a:off x="2236881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Definiciones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8242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Elementos consulta SPARQL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8" name="12 Rectángulo redondeado"/>
          <p:cNvSpPr/>
          <p:nvPr/>
        </p:nvSpPr>
        <p:spPr>
          <a:xfrm>
            <a:off x="3611163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Sintaxis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34" y="1917662"/>
            <a:ext cx="8247911" cy="1903364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2798684" y="3714832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Fuente:</a:t>
            </a:r>
            <a:r>
              <a:rPr lang="es-ES" dirty="0" smtClean="0"/>
              <a:t> www.w3.org</a:t>
            </a:r>
            <a:endParaRPr lang="es-ES" dirty="0"/>
          </a:p>
        </p:txBody>
      </p:sp>
      <p:sp>
        <p:nvSpPr>
          <p:cNvPr id="13" name="Flecha abajo 12"/>
          <p:cNvSpPr/>
          <p:nvPr/>
        </p:nvSpPr>
        <p:spPr>
          <a:xfrm>
            <a:off x="1520519" y="3359020"/>
            <a:ext cx="384307" cy="9024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/>
          <p:cNvSpPr txBox="1"/>
          <p:nvPr/>
        </p:nvSpPr>
        <p:spPr>
          <a:xfrm>
            <a:off x="630801" y="4194596"/>
            <a:ext cx="228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Formas de consulta</a:t>
            </a:r>
            <a:endParaRPr lang="es-ES" dirty="0"/>
          </a:p>
        </p:txBody>
      </p:sp>
      <p:sp>
        <p:nvSpPr>
          <p:cNvPr id="28" name="Flecha abajo 27"/>
          <p:cNvSpPr/>
          <p:nvPr/>
        </p:nvSpPr>
        <p:spPr>
          <a:xfrm>
            <a:off x="2813271" y="3714832"/>
            <a:ext cx="384307" cy="9024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/>
          <p:cNvSpPr txBox="1"/>
          <p:nvPr/>
        </p:nvSpPr>
        <p:spPr>
          <a:xfrm>
            <a:off x="1923554" y="4622607"/>
            <a:ext cx="228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Modificadores</a:t>
            </a:r>
            <a:endParaRPr lang="es-ES" dirty="0"/>
          </a:p>
        </p:txBody>
      </p:sp>
      <p:sp>
        <p:nvSpPr>
          <p:cNvPr id="31" name="Flecha arriba 30"/>
          <p:cNvSpPr/>
          <p:nvPr/>
        </p:nvSpPr>
        <p:spPr>
          <a:xfrm>
            <a:off x="5196499" y="1474788"/>
            <a:ext cx="384307" cy="44287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/>
          <p:cNvSpPr txBox="1"/>
          <p:nvPr/>
        </p:nvSpPr>
        <p:spPr>
          <a:xfrm>
            <a:off x="4204259" y="1119351"/>
            <a:ext cx="228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Patrones</a:t>
            </a:r>
            <a:endParaRPr lang="es-ES" dirty="0"/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845" y="3933756"/>
            <a:ext cx="2006600" cy="1765300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6382838" y="5682344"/>
            <a:ext cx="230786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Tipos de datos</a:t>
            </a:r>
            <a:endParaRPr lang="es-ES" dirty="0"/>
          </a:p>
        </p:txBody>
      </p:sp>
      <p:sp>
        <p:nvSpPr>
          <p:cNvPr id="35" name="CuadroTexto 34"/>
          <p:cNvSpPr txBox="1"/>
          <p:nvPr/>
        </p:nvSpPr>
        <p:spPr>
          <a:xfrm>
            <a:off x="630801" y="5379860"/>
            <a:ext cx="329167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Operadores Unarios</a:t>
            </a:r>
          </a:p>
          <a:p>
            <a:pPr algn="ctr"/>
            <a:r>
              <a:rPr lang="es-ES" b="1" dirty="0" smtClean="0"/>
              <a:t>Operadores Binarios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2848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/>
      <p:bldP spid="28" grpId="0" animBg="1"/>
      <p:bldP spid="29" grpId="0"/>
      <p:bldP spid="31" grpId="0" animBg="1"/>
      <p:bldP spid="32" grpId="0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Operadores en SPARQL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7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451142" y="1610816"/>
            <a:ext cx="835312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500" b="1" dirty="0" smtClean="0">
                <a:solidFill>
                  <a:srgbClr val="C0504D"/>
                </a:solidFill>
              </a:rPr>
              <a:t>SELECT: </a:t>
            </a:r>
            <a:r>
              <a:rPr lang="es-ES" sz="2500" dirty="0" smtClean="0">
                <a:solidFill>
                  <a:srgbClr val="000000"/>
                </a:solidFill>
              </a:rPr>
              <a:t>Selecciona los </a:t>
            </a:r>
            <a:r>
              <a:rPr lang="es-ES" sz="2500" u="sng" dirty="0" smtClean="0">
                <a:solidFill>
                  <a:srgbClr val="C0504D"/>
                </a:solidFill>
              </a:rPr>
              <a:t>datos</a:t>
            </a:r>
            <a:r>
              <a:rPr lang="es-ES" sz="2500" dirty="0" smtClean="0">
                <a:solidFill>
                  <a:srgbClr val="000000"/>
                </a:solidFill>
              </a:rPr>
              <a:t> entregados por una consulta.</a:t>
            </a:r>
          </a:p>
          <a:p>
            <a:pPr algn="just"/>
            <a:r>
              <a:rPr lang="es-ES" sz="2500" b="1" dirty="0" smtClean="0">
                <a:solidFill>
                  <a:srgbClr val="C0504D"/>
                </a:solidFill>
              </a:rPr>
              <a:t>FILTER: </a:t>
            </a:r>
            <a:r>
              <a:rPr lang="es-ES" sz="2500" dirty="0" smtClean="0">
                <a:solidFill>
                  <a:srgbClr val="000000"/>
                </a:solidFill>
              </a:rPr>
              <a:t>Permite </a:t>
            </a:r>
            <a:r>
              <a:rPr lang="es-ES_tradnl" sz="2500" u="sng" dirty="0" smtClean="0">
                <a:solidFill>
                  <a:srgbClr val="C0504D"/>
                </a:solidFill>
              </a:rPr>
              <a:t>filtrar los datos </a:t>
            </a:r>
            <a:r>
              <a:rPr lang="es-ES_tradnl" sz="2500" dirty="0" smtClean="0">
                <a:solidFill>
                  <a:srgbClr val="000000"/>
                </a:solidFill>
              </a:rPr>
              <a:t>en una consulta SPARQL, mejorando la consulta. Puede filtrar utilizando varias condiciones al mismo tiempo, conectándolas por operadores de conjunción (&amp;&amp;) y  disyunción (||).</a:t>
            </a:r>
          </a:p>
          <a:p>
            <a:pPr algn="just"/>
            <a:r>
              <a:rPr lang="es-ES" sz="2500" b="1" dirty="0" smtClean="0">
                <a:solidFill>
                  <a:srgbClr val="C0504D"/>
                </a:solidFill>
              </a:rPr>
              <a:t>OPTIONAL: </a:t>
            </a:r>
            <a:r>
              <a:rPr lang="es-ES" sz="2500" dirty="0" smtClean="0">
                <a:solidFill>
                  <a:srgbClr val="000000"/>
                </a:solidFill>
              </a:rPr>
              <a:t>Permite </a:t>
            </a:r>
            <a:r>
              <a:rPr lang="es-ES" sz="2500" u="sng" dirty="0" smtClean="0">
                <a:solidFill>
                  <a:srgbClr val="C0504D"/>
                </a:solidFill>
              </a:rPr>
              <a:t>recuperar datos </a:t>
            </a:r>
            <a:r>
              <a:rPr lang="es-ES" sz="2500" dirty="0" smtClean="0">
                <a:solidFill>
                  <a:srgbClr val="000000"/>
                </a:solidFill>
              </a:rPr>
              <a:t>en el caso de que existan, sino existen, de todas formas se obtiene una respuesta incompleta. Aquí se pueden incluir otros operadores, como FILTER.</a:t>
            </a:r>
          </a:p>
          <a:p>
            <a:pPr algn="just"/>
            <a:r>
              <a:rPr lang="es-ES" sz="2500" b="1" dirty="0" smtClean="0">
                <a:solidFill>
                  <a:srgbClr val="C0504D"/>
                </a:solidFill>
              </a:rPr>
              <a:t>UNION: </a:t>
            </a:r>
            <a:r>
              <a:rPr lang="es-ES" sz="2500" dirty="0" smtClean="0">
                <a:solidFill>
                  <a:srgbClr val="000000"/>
                </a:solidFill>
              </a:rPr>
              <a:t>Permite </a:t>
            </a:r>
            <a:r>
              <a:rPr lang="es-ES" sz="2500" u="sng" dirty="0" smtClean="0">
                <a:solidFill>
                  <a:srgbClr val="C0504D"/>
                </a:solidFill>
              </a:rPr>
              <a:t>hacer la unión </a:t>
            </a:r>
            <a:r>
              <a:rPr lang="es-ES" sz="2500" dirty="0" smtClean="0">
                <a:solidFill>
                  <a:srgbClr val="000000"/>
                </a:solidFill>
              </a:rPr>
              <a:t>de conjuntos de respuestas.</a:t>
            </a:r>
            <a:endParaRPr lang="is-IS" sz="2500" dirty="0">
              <a:solidFill>
                <a:srgbClr val="000000"/>
              </a:solidFill>
            </a:endParaRPr>
          </a:p>
          <a:p>
            <a:pPr algn="just"/>
            <a:endParaRPr lang="is-IS" sz="2800" dirty="0">
              <a:solidFill>
                <a:srgbClr val="000000"/>
              </a:solidFill>
            </a:endParaRPr>
          </a:p>
          <a:p>
            <a:pPr algn="just"/>
            <a:endParaRPr lang="is-IS" sz="2800" dirty="0">
              <a:solidFill>
                <a:srgbClr val="000000"/>
              </a:solidFill>
            </a:endParaRPr>
          </a:p>
          <a:p>
            <a:pPr algn="just"/>
            <a:endParaRPr lang="es-ES" sz="2400" dirty="0">
              <a:solidFill>
                <a:srgbClr val="4F81BD"/>
              </a:solidFill>
            </a:endParaRPr>
          </a:p>
        </p:txBody>
      </p:sp>
      <p:sp>
        <p:nvSpPr>
          <p:cNvPr id="18" name="12 Rectángulo redondeado"/>
          <p:cNvSpPr/>
          <p:nvPr/>
        </p:nvSpPr>
        <p:spPr>
          <a:xfrm>
            <a:off x="3611163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Sintaxis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2073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Sintaxis de consulta SPARQL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8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545549" y="1295133"/>
            <a:ext cx="657499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 smtClean="0">
                <a:solidFill>
                  <a:srgbClr val="C0504D"/>
                </a:solidFill>
              </a:rPr>
              <a:t>SELECT   </a:t>
            </a:r>
            <a:r>
              <a:rPr lang="es-ES" sz="2800" b="1" dirty="0" smtClean="0"/>
              <a:t>?x  </a:t>
            </a:r>
            <a:r>
              <a:rPr lang="es-ES" sz="2800" b="1" dirty="0" smtClean="0">
                <a:solidFill>
                  <a:srgbClr val="E46C0A"/>
                </a:solidFill>
              </a:rPr>
              <a:t>?y</a:t>
            </a:r>
            <a:r>
              <a:rPr lang="es-ES" sz="2800" b="1" dirty="0" smtClean="0">
                <a:solidFill>
                  <a:schemeClr val="accent1"/>
                </a:solidFill>
              </a:rPr>
              <a:t> </a:t>
            </a:r>
            <a:r>
              <a:rPr lang="is-IS" sz="2800" b="1" dirty="0" smtClean="0">
                <a:solidFill>
                  <a:schemeClr val="accent1"/>
                </a:solidFill>
              </a:rPr>
              <a:t>… ?n</a:t>
            </a:r>
          </a:p>
          <a:p>
            <a:pPr algn="just"/>
            <a:endParaRPr lang="is-IS" sz="28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800" b="1" i="1" dirty="0" smtClean="0">
                <a:solidFill>
                  <a:srgbClr val="C0504D"/>
                </a:solidFill>
              </a:rPr>
              <a:t>WHERE </a:t>
            </a:r>
            <a:r>
              <a:rPr lang="is-IS" sz="2800" b="1" i="1" dirty="0" smtClean="0">
                <a:solidFill>
                  <a:schemeClr val="accent1"/>
                </a:solidFill>
              </a:rPr>
              <a:t> </a:t>
            </a:r>
            <a:r>
              <a:rPr lang="is-IS" sz="2800" b="1" i="1" dirty="0" smtClean="0">
                <a:solidFill>
                  <a:schemeClr val="accent3"/>
                </a:solidFill>
              </a:rPr>
              <a:t>{</a:t>
            </a:r>
            <a:r>
              <a:rPr lang="is-IS" sz="2800" b="1" i="1" dirty="0" smtClean="0">
                <a:solidFill>
                  <a:schemeClr val="accent1"/>
                </a:solidFill>
              </a:rPr>
              <a:t> </a:t>
            </a:r>
          </a:p>
          <a:p>
            <a:pPr algn="just"/>
            <a:endParaRPr lang="is-IS" sz="2800" b="1" i="1" dirty="0" smtClean="0">
              <a:solidFill>
                <a:schemeClr val="accent1"/>
              </a:solidFill>
            </a:endParaRPr>
          </a:p>
          <a:p>
            <a:pPr algn="just"/>
            <a:r>
              <a:rPr lang="is-IS" sz="2800" b="1" i="1" dirty="0">
                <a:solidFill>
                  <a:schemeClr val="accent1"/>
                </a:solidFill>
              </a:rPr>
              <a:t>	</a:t>
            </a:r>
            <a:r>
              <a:rPr lang="is-IS" sz="2800" b="1" i="1" dirty="0" smtClean="0">
                <a:solidFill>
                  <a:schemeClr val="accent1"/>
                </a:solidFill>
              </a:rPr>
              <a:t>		</a:t>
            </a:r>
            <a:r>
              <a:rPr lang="is-IS" sz="2800" b="1" i="1" dirty="0" smtClean="0">
                <a:solidFill>
                  <a:srgbClr val="000000"/>
                </a:solidFill>
              </a:rPr>
              <a:t>?x</a:t>
            </a:r>
            <a:r>
              <a:rPr lang="is-IS" sz="2800" b="1" i="1" dirty="0" smtClean="0">
                <a:solidFill>
                  <a:schemeClr val="accent1"/>
                </a:solidFill>
              </a:rPr>
              <a:t>        </a:t>
            </a:r>
            <a:r>
              <a:rPr lang="is-IS" sz="2800" b="1" i="1" dirty="0" smtClean="0">
                <a:solidFill>
                  <a:schemeClr val="accent5"/>
                </a:solidFill>
              </a:rPr>
              <a:t>predicado</a:t>
            </a:r>
            <a:r>
              <a:rPr lang="is-IS" sz="2800" b="1" i="1" dirty="0" smtClean="0">
                <a:solidFill>
                  <a:schemeClr val="accent1"/>
                </a:solidFill>
              </a:rPr>
              <a:t>      </a:t>
            </a:r>
            <a:r>
              <a:rPr lang="is-IS" sz="2800" b="1" i="1" dirty="0" smtClean="0">
                <a:solidFill>
                  <a:schemeClr val="accent4"/>
                </a:solidFill>
              </a:rPr>
              <a:t>objeto</a:t>
            </a:r>
            <a:r>
              <a:rPr lang="is-IS" sz="2800" b="1" i="1" dirty="0">
                <a:solidFill>
                  <a:schemeClr val="accent1"/>
                </a:solidFill>
              </a:rPr>
              <a:t> </a:t>
            </a:r>
            <a:r>
              <a:rPr lang="is-IS" sz="2800" b="1" i="1" dirty="0" smtClean="0">
                <a:solidFill>
                  <a:schemeClr val="accent1"/>
                </a:solidFill>
              </a:rPr>
              <a:t>.</a:t>
            </a:r>
            <a:endParaRPr lang="is-IS" sz="28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800" b="1" i="1" dirty="0" smtClean="0">
                <a:solidFill>
                  <a:schemeClr val="accent1"/>
                </a:solidFill>
              </a:rPr>
              <a:t>		   sujeto         </a:t>
            </a:r>
            <a:r>
              <a:rPr lang="is-IS" sz="2800" b="1" i="1" dirty="0" smtClean="0">
                <a:solidFill>
                  <a:schemeClr val="accent6">
                    <a:lumMod val="75000"/>
                  </a:schemeClr>
                </a:solidFill>
              </a:rPr>
              <a:t>?y</a:t>
            </a:r>
            <a:r>
              <a:rPr lang="is-IS" sz="2800" b="1" i="1" dirty="0" smtClean="0">
                <a:solidFill>
                  <a:schemeClr val="accent1"/>
                </a:solidFill>
              </a:rPr>
              <a:t>               </a:t>
            </a:r>
            <a:r>
              <a:rPr lang="is-IS" sz="2800" b="1" i="1" dirty="0" smtClean="0">
                <a:solidFill>
                  <a:srgbClr val="8064A2"/>
                </a:solidFill>
              </a:rPr>
              <a:t>objeto </a:t>
            </a:r>
            <a:r>
              <a:rPr lang="is-IS" sz="2800" b="1" i="1" dirty="0" smtClean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800" b="1" i="1" dirty="0">
                <a:solidFill>
                  <a:schemeClr val="accent1"/>
                </a:solidFill>
              </a:rPr>
              <a:t>	</a:t>
            </a:r>
            <a:r>
              <a:rPr lang="is-IS" sz="2800" b="1" i="1" dirty="0" smtClean="0">
                <a:solidFill>
                  <a:schemeClr val="accent1"/>
                </a:solidFill>
              </a:rPr>
              <a:t>	     ...</a:t>
            </a:r>
          </a:p>
          <a:p>
            <a:pPr algn="just"/>
            <a:r>
              <a:rPr lang="is-IS" sz="2800" b="1" i="1" dirty="0">
                <a:solidFill>
                  <a:schemeClr val="accent1"/>
                </a:solidFill>
              </a:rPr>
              <a:t>	</a:t>
            </a:r>
            <a:r>
              <a:rPr lang="is-IS" sz="2800" b="1" i="1" dirty="0" smtClean="0">
                <a:solidFill>
                  <a:schemeClr val="accent1"/>
                </a:solidFill>
              </a:rPr>
              <a:t>	     ...</a:t>
            </a:r>
          </a:p>
          <a:p>
            <a:pPr algn="just"/>
            <a:r>
              <a:rPr lang="is-IS" sz="2800" b="1" i="1" dirty="0">
                <a:solidFill>
                  <a:schemeClr val="accent1"/>
                </a:solidFill>
              </a:rPr>
              <a:t>	</a:t>
            </a:r>
            <a:r>
              <a:rPr lang="is-IS" sz="2800" b="1" i="1" dirty="0" smtClean="0">
                <a:solidFill>
                  <a:schemeClr val="accent1"/>
                </a:solidFill>
              </a:rPr>
              <a:t>	   sujeto    </a:t>
            </a:r>
            <a:r>
              <a:rPr lang="is-IS" sz="2800" b="1" i="1" dirty="0" smtClean="0">
                <a:solidFill>
                  <a:srgbClr val="4BACC6"/>
                </a:solidFill>
              </a:rPr>
              <a:t>predicado</a:t>
            </a:r>
            <a:r>
              <a:rPr lang="is-IS" sz="2800" b="1" i="1" dirty="0" smtClean="0">
                <a:solidFill>
                  <a:schemeClr val="accent1"/>
                </a:solidFill>
              </a:rPr>
              <a:t>        ?n	</a:t>
            </a:r>
          </a:p>
          <a:p>
            <a:pPr algn="just"/>
            <a:endParaRPr lang="is-IS" sz="28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800" b="1" i="1" dirty="0" smtClean="0">
                <a:solidFill>
                  <a:schemeClr val="accent1"/>
                </a:solidFill>
              </a:rPr>
              <a:t>		    </a:t>
            </a:r>
            <a:r>
              <a:rPr lang="is-IS" sz="2800" b="1" i="1" dirty="0" smtClean="0">
                <a:solidFill>
                  <a:srgbClr val="9BBB59"/>
                </a:solidFill>
              </a:rPr>
              <a:t>}</a:t>
            </a:r>
            <a:endParaRPr lang="es-ES" sz="2800" i="1" dirty="0" smtClean="0">
              <a:solidFill>
                <a:srgbClr val="9BBB59"/>
              </a:solidFill>
            </a:endParaRPr>
          </a:p>
          <a:p>
            <a:pPr algn="just"/>
            <a:endParaRPr lang="es-ES" sz="2400" dirty="0">
              <a:solidFill>
                <a:srgbClr val="4F81BD"/>
              </a:solidFill>
            </a:endParaRPr>
          </a:p>
        </p:txBody>
      </p:sp>
      <p:sp>
        <p:nvSpPr>
          <p:cNvPr id="18" name="12 Rectángulo redondeado"/>
          <p:cNvSpPr/>
          <p:nvPr/>
        </p:nvSpPr>
        <p:spPr>
          <a:xfrm>
            <a:off x="3611163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Sintaxis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Marco 2"/>
          <p:cNvSpPr/>
          <p:nvPr/>
        </p:nvSpPr>
        <p:spPr>
          <a:xfrm>
            <a:off x="1403557" y="1328553"/>
            <a:ext cx="3274964" cy="543136"/>
          </a:xfrm>
          <a:prstGeom prst="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5467987" y="1357804"/>
            <a:ext cx="3542308" cy="4616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b="1" dirty="0" smtClean="0"/>
              <a:t>Encabezado de la consulta</a:t>
            </a:r>
            <a:endParaRPr lang="es-ES" sz="2400" dirty="0"/>
          </a:p>
        </p:txBody>
      </p:sp>
      <p:sp>
        <p:nvSpPr>
          <p:cNvPr id="4" name="Flecha derecha 3"/>
          <p:cNvSpPr/>
          <p:nvPr/>
        </p:nvSpPr>
        <p:spPr>
          <a:xfrm>
            <a:off x="4799627" y="1404537"/>
            <a:ext cx="534688" cy="3693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orchetes 6"/>
          <p:cNvSpPr/>
          <p:nvPr/>
        </p:nvSpPr>
        <p:spPr>
          <a:xfrm>
            <a:off x="2339259" y="2857677"/>
            <a:ext cx="4995991" cy="2523443"/>
          </a:xfrm>
          <a:prstGeom prst="bracketPair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85564" y="3699425"/>
            <a:ext cx="1602045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Patrón de</a:t>
            </a:r>
          </a:p>
          <a:p>
            <a:pPr algn="ctr"/>
            <a:r>
              <a:rPr lang="es-ES" sz="2400" b="1" dirty="0" smtClean="0"/>
              <a:t>la consulta</a:t>
            </a:r>
            <a:endParaRPr lang="es-ES" sz="2400" dirty="0"/>
          </a:p>
        </p:txBody>
      </p:sp>
      <p:sp>
        <p:nvSpPr>
          <p:cNvPr id="21" name="Flecha derecha 20"/>
          <p:cNvSpPr/>
          <p:nvPr/>
        </p:nvSpPr>
        <p:spPr>
          <a:xfrm>
            <a:off x="1837989" y="3913265"/>
            <a:ext cx="388451" cy="36933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/>
          <p:cNvSpPr txBox="1"/>
          <p:nvPr/>
        </p:nvSpPr>
        <p:spPr>
          <a:xfrm>
            <a:off x="5839762" y="1788129"/>
            <a:ext cx="3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-&gt; Nos indica qué retornar.</a:t>
            </a:r>
            <a:endParaRPr lang="es-ES" dirty="0"/>
          </a:p>
        </p:txBody>
      </p:sp>
      <p:sp>
        <p:nvSpPr>
          <p:cNvPr id="23" name="CuadroTexto 22"/>
          <p:cNvSpPr txBox="1"/>
          <p:nvPr/>
        </p:nvSpPr>
        <p:spPr>
          <a:xfrm>
            <a:off x="-14690" y="4664509"/>
            <a:ext cx="3291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-&gt; Debe coincidir con</a:t>
            </a:r>
          </a:p>
          <a:p>
            <a:r>
              <a:rPr lang="es-ES" b="1" dirty="0" smtClean="0"/>
              <a:t>La estructura RDF que</a:t>
            </a:r>
          </a:p>
          <a:p>
            <a:r>
              <a:rPr lang="es-ES" b="1" dirty="0" smtClean="0"/>
              <a:t>esta almacenado</a:t>
            </a:r>
            <a:endParaRPr lang="es-ES" dirty="0"/>
          </a:p>
        </p:txBody>
      </p:sp>
      <p:sp>
        <p:nvSpPr>
          <p:cNvPr id="25" name="CuadroTexto 24"/>
          <p:cNvSpPr txBox="1"/>
          <p:nvPr/>
        </p:nvSpPr>
        <p:spPr>
          <a:xfrm>
            <a:off x="7435505" y="3764605"/>
            <a:ext cx="180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&lt;- Contiene </a:t>
            </a:r>
          </a:p>
          <a:p>
            <a:r>
              <a:rPr lang="es-ES" b="1" dirty="0" smtClean="0"/>
              <a:t>variables y URIs </a:t>
            </a:r>
            <a:endParaRPr lang="es-ES" dirty="0"/>
          </a:p>
        </p:txBody>
      </p:sp>
      <p:sp>
        <p:nvSpPr>
          <p:cNvPr id="6" name="Anillo 5"/>
          <p:cNvSpPr/>
          <p:nvPr/>
        </p:nvSpPr>
        <p:spPr>
          <a:xfrm>
            <a:off x="6850689" y="3225329"/>
            <a:ext cx="300761" cy="300808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cxnSp>
        <p:nvCxnSpPr>
          <p:cNvPr id="9" name="Conector recto de flecha 8"/>
          <p:cNvCxnSpPr/>
          <p:nvPr/>
        </p:nvCxnSpPr>
        <p:spPr>
          <a:xfrm>
            <a:off x="7151450" y="3375732"/>
            <a:ext cx="96909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7435505" y="3006400"/>
            <a:ext cx="180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Operador AND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01119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4" grpId="0" animBg="1"/>
      <p:bldP spid="7" grpId="0" animBg="1"/>
      <p:bldP spid="20" grpId="0" animBg="1"/>
      <p:bldP spid="21" grpId="0" animBg="1"/>
      <p:bldP spid="22" grpId="0"/>
      <p:bldP spid="23" grpId="0"/>
      <p:bldP spid="25" grpId="0"/>
      <p:bldP spid="6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EJEMPLOS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9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9" name="12 Rectángulo redondeado"/>
          <p:cNvSpPr/>
          <p:nvPr/>
        </p:nvSpPr>
        <p:spPr>
          <a:xfrm>
            <a:off x="5012594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736726" y="3676533"/>
            <a:ext cx="230786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Archivo RDF</a:t>
            </a:r>
            <a:endParaRPr lang="es-ES" dirty="0"/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08" y="1273017"/>
            <a:ext cx="5668247" cy="247036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Marco 7"/>
          <p:cNvSpPr/>
          <p:nvPr/>
        </p:nvSpPr>
        <p:spPr>
          <a:xfrm>
            <a:off x="225571" y="1955251"/>
            <a:ext cx="4870674" cy="350942"/>
          </a:xfrm>
          <a:prstGeom prst="fram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200508" y="5034154"/>
            <a:ext cx="230786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bpedia:Lionel_Messi</a:t>
            </a:r>
            <a:endParaRPr lang="es-ES" dirty="0"/>
          </a:p>
        </p:txBody>
      </p:sp>
      <p:sp>
        <p:nvSpPr>
          <p:cNvPr id="9" name="Flecha derecha 8"/>
          <p:cNvSpPr/>
          <p:nvPr/>
        </p:nvSpPr>
        <p:spPr>
          <a:xfrm>
            <a:off x="2756985" y="5113731"/>
            <a:ext cx="3510909" cy="22290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/>
          <p:cNvSpPr txBox="1"/>
          <p:nvPr/>
        </p:nvSpPr>
        <p:spPr>
          <a:xfrm>
            <a:off x="6496406" y="5034154"/>
            <a:ext cx="230786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bpedia:Rosario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3275973" y="4744399"/>
            <a:ext cx="230786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bpprop:birthPlace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41811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 animBg="1"/>
      <p:bldP spid="9" grpId="0" animBg="1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EJEMPLOS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10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9" name="12 Rectángulo redondeado"/>
          <p:cNvSpPr/>
          <p:nvPr/>
        </p:nvSpPr>
        <p:spPr>
          <a:xfrm>
            <a:off x="5012594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275698" y="1484419"/>
            <a:ext cx="230786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bpedia:Lionel_Messi</a:t>
            </a:r>
            <a:endParaRPr lang="es-ES" dirty="0"/>
          </a:p>
        </p:txBody>
      </p:sp>
      <p:sp>
        <p:nvSpPr>
          <p:cNvPr id="9" name="Flecha derecha 8"/>
          <p:cNvSpPr/>
          <p:nvPr/>
        </p:nvSpPr>
        <p:spPr>
          <a:xfrm>
            <a:off x="2832175" y="1563996"/>
            <a:ext cx="3510909" cy="22290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/>
          <p:cNvSpPr txBox="1"/>
          <p:nvPr/>
        </p:nvSpPr>
        <p:spPr>
          <a:xfrm>
            <a:off x="6571596" y="1484419"/>
            <a:ext cx="230786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bpedia:Rosario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3091165" y="1194664"/>
            <a:ext cx="270153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</a:t>
            </a:r>
            <a:r>
              <a:rPr lang="es-ES" b="1" dirty="0" smtClean="0"/>
              <a:t>bpprop:birthPlace</a:t>
            </a:r>
            <a:endParaRPr lang="es-E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50635" y="2654687"/>
            <a:ext cx="867895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PREFIX </a:t>
            </a:r>
            <a:r>
              <a:rPr lang="es-ES" sz="2400" dirty="0" err="1"/>
              <a:t>dbpprop</a:t>
            </a:r>
            <a:r>
              <a:rPr lang="es-ES" sz="2400" dirty="0"/>
              <a:t>: &lt;http://</a:t>
            </a:r>
            <a:r>
              <a:rPr lang="es-ES" sz="2400" dirty="0" err="1"/>
              <a:t>dbpedia.org</a:t>
            </a:r>
            <a:r>
              <a:rPr lang="es-ES" sz="2400" dirty="0"/>
              <a:t>/</a:t>
            </a:r>
            <a:r>
              <a:rPr lang="es-ES" sz="2400" dirty="0" err="1"/>
              <a:t>property</a:t>
            </a:r>
            <a:r>
              <a:rPr lang="es-ES" sz="2400" dirty="0"/>
              <a:t>/&gt;</a:t>
            </a:r>
          </a:p>
          <a:p>
            <a:r>
              <a:rPr lang="es-ES" sz="2400" dirty="0"/>
              <a:t>PREFIX </a:t>
            </a:r>
            <a:r>
              <a:rPr lang="es-ES" sz="2400" dirty="0" err="1"/>
              <a:t>dbpedia-owl</a:t>
            </a:r>
            <a:r>
              <a:rPr lang="es-ES" sz="2400" dirty="0"/>
              <a:t>: &lt;http://</a:t>
            </a:r>
            <a:r>
              <a:rPr lang="es-ES" sz="2400" dirty="0" err="1"/>
              <a:t>dbpedia.org</a:t>
            </a:r>
            <a:r>
              <a:rPr lang="es-ES" sz="2400" dirty="0"/>
              <a:t>/</a:t>
            </a:r>
            <a:r>
              <a:rPr lang="es-ES" sz="2400" dirty="0" err="1"/>
              <a:t>ontology</a:t>
            </a:r>
            <a:r>
              <a:rPr lang="es-ES" sz="2400" dirty="0"/>
              <a:t>/&gt;</a:t>
            </a:r>
          </a:p>
          <a:p>
            <a:r>
              <a:rPr lang="es-ES" sz="2400" dirty="0"/>
              <a:t>PREFIX </a:t>
            </a:r>
            <a:r>
              <a:rPr lang="es-ES" sz="2400" dirty="0" err="1"/>
              <a:t>dbpedia</a:t>
            </a:r>
            <a:r>
              <a:rPr lang="es-ES" sz="2400" dirty="0"/>
              <a:t>: &lt;http://</a:t>
            </a:r>
            <a:r>
              <a:rPr lang="es-ES" sz="2400" dirty="0" err="1"/>
              <a:t>dbpedia.org</a:t>
            </a:r>
            <a:r>
              <a:rPr lang="es-ES" sz="2400" dirty="0"/>
              <a:t>/</a:t>
            </a:r>
            <a:r>
              <a:rPr lang="es-ES" sz="2400" dirty="0" err="1"/>
              <a:t>resource</a:t>
            </a:r>
            <a:r>
              <a:rPr lang="es-ES" sz="2400" dirty="0"/>
              <a:t>/&gt;</a:t>
            </a:r>
            <a:endParaRPr lang="es-ES" sz="2200" b="1" dirty="0" smtClean="0">
              <a:solidFill>
                <a:srgbClr val="C0504D"/>
              </a:solidFill>
            </a:endParaRPr>
          </a:p>
          <a:p>
            <a:pPr algn="just"/>
            <a:r>
              <a:rPr lang="es-ES" sz="2200" b="1" dirty="0">
                <a:solidFill>
                  <a:srgbClr val="C0504D"/>
                </a:solidFill>
              </a:rPr>
              <a:t>SELECT   </a:t>
            </a:r>
            <a:r>
              <a:rPr lang="es-ES" sz="2200" dirty="0"/>
              <a:t>?lugarNacimiento</a:t>
            </a:r>
            <a:endParaRPr lang="is-IS" sz="2200" dirty="0">
              <a:solidFill>
                <a:schemeClr val="accent1"/>
              </a:solidFill>
            </a:endParaRPr>
          </a:p>
          <a:p>
            <a:pPr algn="just"/>
            <a:endParaRPr lang="is-IS" sz="22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>
                <a:solidFill>
                  <a:srgbClr val="C0504D"/>
                </a:solidFill>
              </a:rPr>
              <a:t>WHERE </a:t>
            </a:r>
            <a:r>
              <a:rPr lang="is-IS" sz="2200" b="1" i="1" dirty="0">
                <a:solidFill>
                  <a:schemeClr val="accent1"/>
                </a:solidFill>
              </a:rPr>
              <a:t> </a:t>
            </a:r>
            <a:r>
              <a:rPr lang="is-IS" sz="2200" b="1" i="1" dirty="0">
                <a:solidFill>
                  <a:schemeClr val="accent3"/>
                </a:solidFill>
              </a:rPr>
              <a:t>{</a:t>
            </a:r>
            <a:r>
              <a:rPr lang="is-IS" sz="2200" b="1" i="1" dirty="0">
                <a:solidFill>
                  <a:schemeClr val="accent1"/>
                </a:solidFill>
              </a:rPr>
              <a:t> </a:t>
            </a:r>
          </a:p>
          <a:p>
            <a:pPr algn="just"/>
            <a:endParaRPr lang="is-IS" sz="22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>
                <a:solidFill>
                  <a:schemeClr val="accent1"/>
                </a:solidFill>
              </a:rPr>
              <a:t>	  dbpedia:Lionel_Messi       </a:t>
            </a:r>
            <a:r>
              <a:rPr lang="is-IS" sz="2200" b="1" i="1" dirty="0">
                <a:solidFill>
                  <a:schemeClr val="accent5"/>
                </a:solidFill>
              </a:rPr>
              <a:t>dbpprop:birthPlace</a:t>
            </a:r>
            <a:r>
              <a:rPr lang="is-IS" sz="2200" b="1" i="1" dirty="0">
                <a:solidFill>
                  <a:schemeClr val="accent1"/>
                </a:solidFill>
              </a:rPr>
              <a:t>      </a:t>
            </a:r>
            <a:r>
              <a:rPr lang="is-IS" sz="2200" dirty="0"/>
              <a:t>?lugarNacimiento</a:t>
            </a:r>
            <a:r>
              <a:rPr lang="is-IS" sz="2200" dirty="0">
                <a:solidFill>
                  <a:schemeClr val="accent4"/>
                </a:solidFill>
              </a:rPr>
              <a:t> </a:t>
            </a:r>
            <a:r>
              <a:rPr lang="is-IS" sz="2200" dirty="0">
                <a:solidFill>
                  <a:schemeClr val="accent1"/>
                </a:solidFill>
              </a:rPr>
              <a:t> </a:t>
            </a:r>
            <a:r>
              <a:rPr lang="is-IS" sz="2200" b="1" i="1" dirty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200" b="1" i="1" dirty="0">
                <a:solidFill>
                  <a:schemeClr val="accent1"/>
                </a:solidFill>
              </a:rPr>
              <a:t>		   	</a:t>
            </a:r>
          </a:p>
          <a:p>
            <a:pPr algn="just"/>
            <a:r>
              <a:rPr lang="is-IS" sz="2200" b="1" i="1" dirty="0">
                <a:solidFill>
                  <a:schemeClr val="accent1"/>
                </a:solidFill>
              </a:rPr>
              <a:t>		 </a:t>
            </a:r>
            <a:r>
              <a:rPr lang="is-IS" sz="2200" b="1" i="1" dirty="0">
                <a:solidFill>
                  <a:srgbClr val="9BBB59"/>
                </a:solidFill>
              </a:rPr>
              <a:t>}</a:t>
            </a:r>
            <a:endParaRPr lang="es-ES" sz="2200" i="1" dirty="0">
              <a:solidFill>
                <a:srgbClr val="9BBB59"/>
              </a:solidFill>
            </a:endParaRPr>
          </a:p>
        </p:txBody>
      </p:sp>
      <p:cxnSp>
        <p:nvCxnSpPr>
          <p:cNvPr id="17" name="Conector recto 16"/>
          <p:cNvCxnSpPr/>
          <p:nvPr/>
        </p:nvCxnSpPr>
        <p:spPr>
          <a:xfrm flipH="1">
            <a:off x="275698" y="2044896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584815" y="2082364"/>
            <a:ext cx="7938794" cy="4462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300" b="1" i="1" dirty="0" smtClean="0"/>
              <a:t>Pregunta: ¿Cuál es el lugar de nacimiento de Lionel Messi?</a:t>
            </a:r>
            <a:endParaRPr lang="es-ES" sz="2300" i="1" dirty="0"/>
          </a:p>
        </p:txBody>
      </p:sp>
    </p:spTree>
    <p:extLst>
      <p:ext uri="{BB962C8B-B14F-4D97-AF65-F5344CB8AC3E}">
        <p14:creationId xmlns:p14="http://schemas.microsoft.com/office/powerpoint/2010/main" val="2542731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EJEMPLOS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11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9" name="12 Rectángulo redondeado"/>
          <p:cNvSpPr/>
          <p:nvPr/>
        </p:nvSpPr>
        <p:spPr>
          <a:xfrm>
            <a:off x="5012594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584815" y="1445344"/>
            <a:ext cx="7938794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Utilizar la información que provee DBPEDIA (OWL) acerca de Lionel Messi, para averiguar una breve descripción del jugador de fútbol</a:t>
            </a:r>
            <a:endParaRPr lang="es-ES" sz="2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50889" y="2621568"/>
            <a:ext cx="867895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PREFIX </a:t>
            </a:r>
            <a:r>
              <a:rPr lang="es-ES" sz="2400" dirty="0" err="1"/>
              <a:t>dbpedia-owl</a:t>
            </a:r>
            <a:r>
              <a:rPr lang="es-ES" sz="2400" dirty="0"/>
              <a:t>: &lt;http://</a:t>
            </a:r>
            <a:r>
              <a:rPr lang="es-ES" sz="2400" dirty="0" err="1"/>
              <a:t>dbpedia.org</a:t>
            </a:r>
            <a:r>
              <a:rPr lang="es-ES" sz="2400" dirty="0"/>
              <a:t>/</a:t>
            </a:r>
            <a:r>
              <a:rPr lang="es-ES" sz="2400" dirty="0" err="1"/>
              <a:t>ontology</a:t>
            </a:r>
            <a:r>
              <a:rPr lang="es-ES" sz="2400" dirty="0"/>
              <a:t>/&gt;</a:t>
            </a:r>
          </a:p>
          <a:p>
            <a:r>
              <a:rPr lang="es-ES" sz="2400" dirty="0"/>
              <a:t>PREFIX </a:t>
            </a:r>
            <a:r>
              <a:rPr lang="es-ES" sz="2400" dirty="0" err="1"/>
              <a:t>dbpedia</a:t>
            </a:r>
            <a:r>
              <a:rPr lang="es-ES" sz="2400" dirty="0"/>
              <a:t>: &lt;http://</a:t>
            </a:r>
            <a:r>
              <a:rPr lang="es-ES" sz="2400" dirty="0" err="1"/>
              <a:t>dbpedia.org</a:t>
            </a:r>
            <a:r>
              <a:rPr lang="es-ES" sz="2400" dirty="0"/>
              <a:t>/</a:t>
            </a:r>
            <a:r>
              <a:rPr lang="es-ES" sz="2400" dirty="0" err="1"/>
              <a:t>resource</a:t>
            </a:r>
            <a:r>
              <a:rPr lang="es-ES" sz="2400" dirty="0"/>
              <a:t>/&gt;</a:t>
            </a:r>
            <a:endParaRPr lang="es-ES" sz="2200" b="1" dirty="0" smtClean="0">
              <a:solidFill>
                <a:srgbClr val="C0504D"/>
              </a:solidFill>
            </a:endParaRPr>
          </a:p>
          <a:p>
            <a:pPr algn="just"/>
            <a:r>
              <a:rPr lang="es-ES" sz="2200" b="1" dirty="0" smtClean="0">
                <a:solidFill>
                  <a:srgbClr val="C0504D"/>
                </a:solidFill>
              </a:rPr>
              <a:t>SELECT   </a:t>
            </a:r>
            <a:r>
              <a:rPr lang="es-ES" sz="2200" dirty="0" smtClean="0"/>
              <a:t>?resumen</a:t>
            </a:r>
            <a:endParaRPr lang="is-IS" sz="2200" dirty="0" smtClean="0">
              <a:solidFill>
                <a:schemeClr val="accent1"/>
              </a:solidFill>
            </a:endParaRPr>
          </a:p>
          <a:p>
            <a:pPr algn="just"/>
            <a:endParaRPr lang="is-IS" sz="22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 smtClean="0">
                <a:solidFill>
                  <a:srgbClr val="C0504D"/>
                </a:solidFill>
              </a:rPr>
              <a:t>WHERE </a:t>
            </a:r>
            <a:r>
              <a:rPr lang="is-IS" sz="2200" b="1" i="1" dirty="0" smtClean="0">
                <a:solidFill>
                  <a:schemeClr val="accent1"/>
                </a:solidFill>
              </a:rPr>
              <a:t> </a:t>
            </a:r>
            <a:r>
              <a:rPr lang="is-IS" sz="2200" b="1" i="1" dirty="0" smtClean="0">
                <a:solidFill>
                  <a:schemeClr val="accent3"/>
                </a:solidFill>
              </a:rPr>
              <a:t>{</a:t>
            </a:r>
            <a:r>
              <a:rPr lang="is-IS" sz="2200" b="1" i="1" dirty="0" smtClean="0">
                <a:solidFill>
                  <a:schemeClr val="accent1"/>
                </a:solidFill>
              </a:rPr>
              <a:t> </a:t>
            </a:r>
          </a:p>
          <a:p>
            <a:pPr algn="just"/>
            <a:endParaRPr lang="is-IS" sz="2200" b="1" i="1" dirty="0" smtClean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>
                <a:solidFill>
                  <a:schemeClr val="accent1"/>
                </a:solidFill>
              </a:rPr>
              <a:t>	</a:t>
            </a:r>
            <a:r>
              <a:rPr lang="is-IS" sz="2200" b="1" i="1" dirty="0" smtClean="0">
                <a:solidFill>
                  <a:schemeClr val="accent1"/>
                </a:solidFill>
              </a:rPr>
              <a:t>  dbpedia:Lionel_Messi       </a:t>
            </a:r>
            <a:r>
              <a:rPr lang="is-IS" sz="2200" b="1" i="1" dirty="0" smtClean="0">
                <a:solidFill>
                  <a:schemeClr val="accent5"/>
                </a:solidFill>
              </a:rPr>
              <a:t>dbpedia-owl:abstract</a:t>
            </a:r>
            <a:r>
              <a:rPr lang="is-IS" sz="2200" b="1" i="1" dirty="0" smtClean="0">
                <a:solidFill>
                  <a:schemeClr val="accent1"/>
                </a:solidFill>
              </a:rPr>
              <a:t>      </a:t>
            </a:r>
            <a:r>
              <a:rPr lang="is-IS" sz="2200" dirty="0" smtClean="0"/>
              <a:t>?resumen</a:t>
            </a:r>
            <a:r>
              <a:rPr lang="is-IS" sz="2200" dirty="0" smtClean="0">
                <a:solidFill>
                  <a:schemeClr val="accent4"/>
                </a:solidFill>
              </a:rPr>
              <a:t> </a:t>
            </a:r>
            <a:r>
              <a:rPr lang="is-IS" sz="2200" dirty="0" smtClean="0">
                <a:solidFill>
                  <a:schemeClr val="accent1"/>
                </a:solidFill>
              </a:rPr>
              <a:t> </a:t>
            </a:r>
            <a:r>
              <a:rPr lang="is-IS" sz="2200" b="1" i="1" dirty="0" smtClean="0">
                <a:solidFill>
                  <a:schemeClr val="accent1"/>
                </a:solidFill>
              </a:rPr>
              <a:t>.</a:t>
            </a:r>
            <a:endParaRPr lang="is-IS" sz="22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 smtClean="0">
                <a:solidFill>
                  <a:schemeClr val="accent1"/>
                </a:solidFill>
              </a:rPr>
              <a:t>		   	</a:t>
            </a:r>
            <a:endParaRPr lang="is-IS" sz="22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200" b="1" i="1" dirty="0" smtClean="0">
                <a:solidFill>
                  <a:schemeClr val="accent1"/>
                </a:solidFill>
              </a:rPr>
              <a:t>		 </a:t>
            </a:r>
            <a:r>
              <a:rPr lang="is-IS" sz="2200" b="1" i="1" dirty="0" smtClean="0">
                <a:solidFill>
                  <a:srgbClr val="9BBB59"/>
                </a:solidFill>
              </a:rPr>
              <a:t>}</a:t>
            </a:r>
            <a:endParaRPr lang="es-ES" sz="2200" i="1" dirty="0" smtClean="0">
              <a:solidFill>
                <a:srgbClr val="9BBB59"/>
              </a:solidFill>
            </a:endParaRPr>
          </a:p>
        </p:txBody>
      </p:sp>
      <p:cxnSp>
        <p:nvCxnSpPr>
          <p:cNvPr id="17" name="Conector recto 16"/>
          <p:cNvCxnSpPr/>
          <p:nvPr/>
        </p:nvCxnSpPr>
        <p:spPr>
          <a:xfrm flipH="1">
            <a:off x="275698" y="2429272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1495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EJEMPLOS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12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9" name="12 Rectángulo redondeado"/>
          <p:cNvSpPr/>
          <p:nvPr/>
        </p:nvSpPr>
        <p:spPr>
          <a:xfrm>
            <a:off x="5012594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300762" y="1161240"/>
            <a:ext cx="8603760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000" b="1" dirty="0" smtClean="0"/>
              <a:t>Unión de las respuestas a las consultas anteriores, utilizando UNION</a:t>
            </a:r>
            <a:endParaRPr lang="es-ES" sz="2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75698" y="2286733"/>
            <a:ext cx="86789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PREFIX </a:t>
            </a:r>
            <a:r>
              <a:rPr lang="es-ES" sz="2000" dirty="0" err="1"/>
              <a:t>dbpprop</a:t>
            </a:r>
            <a:r>
              <a:rPr lang="es-ES" sz="2000" dirty="0"/>
              <a:t>: &lt;http://</a:t>
            </a:r>
            <a:r>
              <a:rPr lang="es-ES" sz="2000" dirty="0" err="1"/>
              <a:t>dbpedia.org</a:t>
            </a:r>
            <a:r>
              <a:rPr lang="es-ES" sz="2000" dirty="0"/>
              <a:t>/</a:t>
            </a:r>
            <a:r>
              <a:rPr lang="es-ES" sz="2000" dirty="0" err="1"/>
              <a:t>property</a:t>
            </a:r>
            <a:r>
              <a:rPr lang="es-ES" sz="2000" dirty="0"/>
              <a:t>/&gt;</a:t>
            </a:r>
          </a:p>
          <a:p>
            <a:pPr algn="just"/>
            <a:r>
              <a:rPr lang="es-ES" sz="2000" dirty="0"/>
              <a:t>PREFIX </a:t>
            </a:r>
            <a:r>
              <a:rPr lang="es-ES" sz="2000" dirty="0" err="1"/>
              <a:t>dbpedia-owl</a:t>
            </a:r>
            <a:r>
              <a:rPr lang="es-ES" sz="2000" dirty="0"/>
              <a:t>: &lt;http://</a:t>
            </a:r>
            <a:r>
              <a:rPr lang="es-ES" sz="2000" dirty="0" err="1"/>
              <a:t>dbpedia.org</a:t>
            </a:r>
            <a:r>
              <a:rPr lang="es-ES" sz="2000" dirty="0"/>
              <a:t>/</a:t>
            </a:r>
            <a:r>
              <a:rPr lang="es-ES" sz="2000" dirty="0" err="1"/>
              <a:t>ontology</a:t>
            </a:r>
            <a:r>
              <a:rPr lang="es-ES" sz="2000" dirty="0"/>
              <a:t>/&gt;</a:t>
            </a:r>
          </a:p>
          <a:p>
            <a:pPr algn="just"/>
            <a:r>
              <a:rPr lang="es-ES" sz="2000" dirty="0"/>
              <a:t>PREFIX </a:t>
            </a:r>
            <a:r>
              <a:rPr lang="es-ES" sz="2000" dirty="0" err="1"/>
              <a:t>dbpedia</a:t>
            </a:r>
            <a:r>
              <a:rPr lang="es-ES" sz="2000" dirty="0"/>
              <a:t>: </a:t>
            </a:r>
            <a:r>
              <a:rPr lang="es-ES" sz="2000" dirty="0" smtClean="0">
                <a:hlinkClick r:id="rId4"/>
              </a:rPr>
              <a:t>http</a:t>
            </a:r>
            <a:r>
              <a:rPr lang="es-ES" sz="2000" dirty="0">
                <a:hlinkClick r:id="rId4"/>
              </a:rPr>
              <a:t>://dbpedia.org/resource</a:t>
            </a:r>
            <a:r>
              <a:rPr lang="es-ES" sz="2000" dirty="0" smtClean="0">
                <a:hlinkClick r:id="rId4"/>
              </a:rPr>
              <a:t>/</a:t>
            </a:r>
            <a:endParaRPr lang="es-ES" sz="2000" dirty="0" smtClean="0"/>
          </a:p>
          <a:p>
            <a:pPr algn="just"/>
            <a:r>
              <a:rPr lang="es-ES" sz="2000" b="1" dirty="0" smtClean="0">
                <a:solidFill>
                  <a:srgbClr val="C0504D"/>
                </a:solidFill>
              </a:rPr>
              <a:t>SELECT   </a:t>
            </a:r>
            <a:r>
              <a:rPr lang="es-ES" sz="2000" dirty="0" smtClean="0"/>
              <a:t> ?lugarNacimiento ?resumen</a:t>
            </a:r>
            <a:endParaRPr lang="is-IS" sz="20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000" b="1" i="1" dirty="0" smtClean="0">
                <a:solidFill>
                  <a:srgbClr val="C0504D"/>
                </a:solidFill>
              </a:rPr>
              <a:t>WHERE </a:t>
            </a:r>
            <a:r>
              <a:rPr lang="is-IS" sz="2000" b="1" i="1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3"/>
                </a:solidFill>
              </a:rPr>
              <a:t>{</a:t>
            </a:r>
            <a:r>
              <a:rPr lang="is-IS" sz="2000" b="1" i="1" dirty="0" smtClean="0">
                <a:solidFill>
                  <a:schemeClr val="accent1"/>
                </a:solidFill>
              </a:rPr>
              <a:t> </a:t>
            </a:r>
          </a:p>
          <a:p>
            <a:pPr algn="just"/>
            <a:r>
              <a:rPr lang="is-IS" sz="2000" b="1" i="1" dirty="0">
                <a:solidFill>
                  <a:schemeClr val="accent1"/>
                </a:solidFill>
              </a:rPr>
              <a:t>	</a:t>
            </a:r>
            <a:r>
              <a:rPr lang="is-IS" sz="2000" b="1" i="1" dirty="0" smtClean="0">
                <a:solidFill>
                  <a:schemeClr val="accent1"/>
                </a:solidFill>
              </a:rPr>
              <a:t>  {</a:t>
            </a:r>
            <a:r>
              <a:rPr lang="is-IS" sz="2000" b="1" i="1" dirty="0">
                <a:solidFill>
                  <a:schemeClr val="accent1"/>
                </a:solidFill>
              </a:rPr>
              <a:t>dbpedia:Lionel_Messi       </a:t>
            </a:r>
            <a:r>
              <a:rPr lang="is-IS" sz="2000" b="1" i="1" dirty="0">
                <a:solidFill>
                  <a:schemeClr val="accent5"/>
                </a:solidFill>
              </a:rPr>
              <a:t>dbpprop:birthPlace</a:t>
            </a:r>
            <a:r>
              <a:rPr lang="is-IS" sz="2000" b="1" i="1" dirty="0">
                <a:solidFill>
                  <a:schemeClr val="accent1"/>
                </a:solidFill>
              </a:rPr>
              <a:t>      </a:t>
            </a:r>
            <a:r>
              <a:rPr lang="is-IS" sz="2000" dirty="0"/>
              <a:t>?lugarNacimiento</a:t>
            </a:r>
            <a:r>
              <a:rPr lang="is-IS" sz="2000" dirty="0">
                <a:solidFill>
                  <a:schemeClr val="accent4"/>
                </a:solidFill>
              </a:rPr>
              <a:t> </a:t>
            </a:r>
            <a:r>
              <a:rPr lang="is-IS" sz="2000" dirty="0">
                <a:solidFill>
                  <a:schemeClr val="accent1"/>
                </a:solidFill>
              </a:rPr>
              <a:t> </a:t>
            </a:r>
            <a:r>
              <a:rPr lang="is-IS" sz="2000" b="1" i="1" dirty="0">
                <a:solidFill>
                  <a:schemeClr val="accent1"/>
                </a:solidFill>
              </a:rPr>
              <a:t>.</a:t>
            </a:r>
            <a:r>
              <a:rPr lang="is-IS" sz="2000" b="1" i="1" dirty="0" smtClean="0">
                <a:solidFill>
                  <a:schemeClr val="accent1"/>
                </a:solidFill>
              </a:rPr>
              <a:t>}</a:t>
            </a:r>
          </a:p>
          <a:p>
            <a:pPr algn="just"/>
            <a:r>
              <a:rPr lang="is-IS" sz="2000" b="1" i="1" dirty="0" smtClean="0">
                <a:solidFill>
                  <a:schemeClr val="accent2"/>
                </a:solidFill>
              </a:rPr>
              <a:t>UNION</a:t>
            </a: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	 {</a:t>
            </a:r>
            <a:r>
              <a:rPr lang="is-IS" sz="2000" b="1" i="1" dirty="0">
                <a:solidFill>
                  <a:schemeClr val="accent1"/>
                </a:solidFill>
              </a:rPr>
              <a:t>dbpedia:Lionel_Messi       </a:t>
            </a:r>
            <a:r>
              <a:rPr lang="is-IS" sz="2000" b="1" i="1" dirty="0">
                <a:solidFill>
                  <a:schemeClr val="accent5"/>
                </a:solidFill>
              </a:rPr>
              <a:t>dbpedia-owl:abstract</a:t>
            </a:r>
            <a:r>
              <a:rPr lang="is-IS" sz="2000" b="1" i="1" dirty="0">
                <a:solidFill>
                  <a:schemeClr val="accent1"/>
                </a:solidFill>
              </a:rPr>
              <a:t>      </a:t>
            </a:r>
            <a:r>
              <a:rPr lang="is-IS" sz="2000" dirty="0"/>
              <a:t>?resumen</a:t>
            </a:r>
            <a:r>
              <a:rPr lang="is-IS" sz="2000" dirty="0">
                <a:solidFill>
                  <a:schemeClr val="accent4"/>
                </a:solidFill>
              </a:rPr>
              <a:t> </a:t>
            </a:r>
            <a:r>
              <a:rPr lang="is-IS" sz="2000" dirty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1"/>
                </a:solidFill>
              </a:rPr>
              <a:t>. }</a:t>
            </a: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 	 </a:t>
            </a:r>
            <a:r>
              <a:rPr lang="is-IS" sz="2000" b="1" i="1" dirty="0">
                <a:solidFill>
                  <a:schemeClr val="accent1"/>
                </a:solidFill>
              </a:rPr>
              <a:t>	</a:t>
            </a:r>
            <a:r>
              <a:rPr lang="is-IS" sz="2000" b="1" i="1" dirty="0" smtClean="0">
                <a:solidFill>
                  <a:srgbClr val="9BBB59"/>
                </a:solidFill>
              </a:rPr>
              <a:t>}</a:t>
            </a:r>
            <a:endParaRPr lang="es-ES" sz="2000" i="1" dirty="0" smtClean="0">
              <a:solidFill>
                <a:srgbClr val="9BBB59"/>
              </a:solidFill>
            </a:endParaRPr>
          </a:p>
        </p:txBody>
      </p:sp>
      <p:cxnSp>
        <p:nvCxnSpPr>
          <p:cNvPr id="17" name="Conector recto 16"/>
          <p:cNvCxnSpPr/>
          <p:nvPr/>
        </p:nvCxnSpPr>
        <p:spPr>
          <a:xfrm flipH="1">
            <a:off x="275698" y="1660533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117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EJEMPLOS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13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9" name="12 Rectángulo redondeado"/>
          <p:cNvSpPr/>
          <p:nvPr/>
        </p:nvSpPr>
        <p:spPr>
          <a:xfrm>
            <a:off x="5012594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Ejemplos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200508" y="1111104"/>
            <a:ext cx="8603760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000" b="1" dirty="0" smtClean="0"/>
              <a:t>Este ejemplo involucra más elementos en la consulta SPARQL, la cual </a:t>
            </a:r>
            <a:r>
              <a:rPr lang="es-ES" sz="2000" b="1" dirty="0"/>
              <a:t>pretende encontrar </a:t>
            </a:r>
            <a:r>
              <a:rPr lang="es-ES" sz="2000" b="1" dirty="0" smtClean="0"/>
              <a:t>los </a:t>
            </a:r>
            <a:r>
              <a:rPr lang="es-ES" sz="2000" b="1" dirty="0"/>
              <a:t>nombres y las fechas de nacimiento de todos los actores nacidos en </a:t>
            </a:r>
            <a:r>
              <a:rPr lang="es-ES" sz="2000" b="1" dirty="0" smtClean="0"/>
              <a:t>Londres </a:t>
            </a:r>
            <a:r>
              <a:rPr lang="es-ES" sz="2000" b="1" dirty="0"/>
              <a:t>d</a:t>
            </a:r>
            <a:r>
              <a:rPr lang="es-ES" sz="2000" b="1" dirty="0" smtClean="0"/>
              <a:t>espués </a:t>
            </a:r>
            <a:r>
              <a:rPr lang="es-ES" sz="2000" b="1" dirty="0"/>
              <a:t>del año </a:t>
            </a:r>
            <a:r>
              <a:rPr lang="es-ES" sz="2000" b="1" dirty="0" smtClean="0"/>
              <a:t>1930</a:t>
            </a:r>
            <a:r>
              <a:rPr lang="es-ES" sz="2000" b="1" dirty="0"/>
              <a:t> </a:t>
            </a:r>
            <a:r>
              <a:rPr lang="es-ES" sz="2000" b="1" dirty="0" smtClean="0"/>
              <a:t>y que </a:t>
            </a:r>
            <a:r>
              <a:rPr lang="es-ES" sz="2000" b="1" dirty="0"/>
              <a:t>todavía están </a:t>
            </a:r>
            <a:r>
              <a:rPr lang="es-ES" sz="2000" b="1" dirty="0" smtClean="0"/>
              <a:t>vivos.</a:t>
            </a:r>
            <a:endParaRPr lang="es-ES" sz="2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50889" y="2136920"/>
            <a:ext cx="86789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PREFIX </a:t>
            </a:r>
            <a:r>
              <a:rPr lang="es-ES" sz="2000" dirty="0" err="1"/>
              <a:t>foaf</a:t>
            </a:r>
            <a:r>
              <a:rPr lang="es-ES" sz="2000" dirty="0"/>
              <a:t>: &lt;http://</a:t>
            </a:r>
            <a:r>
              <a:rPr lang="es-ES" sz="2000" dirty="0" err="1"/>
              <a:t>xmlns.com</a:t>
            </a:r>
            <a:r>
              <a:rPr lang="es-ES" sz="2000" dirty="0"/>
              <a:t>/</a:t>
            </a:r>
            <a:r>
              <a:rPr lang="es-ES" sz="2000" dirty="0" err="1"/>
              <a:t>foaf</a:t>
            </a:r>
            <a:r>
              <a:rPr lang="es-ES" sz="2000" dirty="0"/>
              <a:t>/0.1/&gt;</a:t>
            </a:r>
          </a:p>
          <a:p>
            <a:pPr algn="just"/>
            <a:r>
              <a:rPr lang="es-ES" sz="2000" dirty="0"/>
              <a:t>PREFIX </a:t>
            </a:r>
            <a:r>
              <a:rPr lang="es-ES" sz="2000" dirty="0" err="1"/>
              <a:t>dbo</a:t>
            </a:r>
            <a:r>
              <a:rPr lang="es-ES" sz="2000" dirty="0"/>
              <a:t>: &lt;http://</a:t>
            </a:r>
            <a:r>
              <a:rPr lang="es-ES" sz="2000" dirty="0" err="1"/>
              <a:t>dbpedia.org</a:t>
            </a:r>
            <a:r>
              <a:rPr lang="es-ES" sz="2000" dirty="0"/>
              <a:t>/</a:t>
            </a:r>
            <a:r>
              <a:rPr lang="es-ES" sz="2000" dirty="0" err="1"/>
              <a:t>ontology</a:t>
            </a:r>
            <a:r>
              <a:rPr lang="es-ES" sz="2000" dirty="0"/>
              <a:t>/&gt;</a:t>
            </a:r>
          </a:p>
          <a:p>
            <a:pPr algn="just"/>
            <a:r>
              <a:rPr lang="es-ES" sz="2000" dirty="0"/>
              <a:t>PREFIX </a:t>
            </a:r>
            <a:r>
              <a:rPr lang="es-ES" sz="2000" dirty="0" err="1"/>
              <a:t>dbr</a:t>
            </a:r>
            <a:r>
              <a:rPr lang="es-ES" sz="2000" dirty="0"/>
              <a:t>: &lt;http://</a:t>
            </a:r>
            <a:r>
              <a:rPr lang="es-ES" sz="2000" dirty="0" err="1"/>
              <a:t>dbpedia.org</a:t>
            </a:r>
            <a:r>
              <a:rPr lang="es-ES" sz="2000" dirty="0"/>
              <a:t>/</a:t>
            </a:r>
            <a:r>
              <a:rPr lang="es-ES" sz="2000" dirty="0" err="1"/>
              <a:t>resource</a:t>
            </a:r>
            <a:r>
              <a:rPr lang="es-ES" sz="2000" dirty="0"/>
              <a:t>/&gt;</a:t>
            </a:r>
          </a:p>
          <a:p>
            <a:pPr algn="just"/>
            <a:r>
              <a:rPr lang="es-ES" sz="2000" dirty="0"/>
              <a:t>PREFIX </a:t>
            </a:r>
            <a:r>
              <a:rPr lang="es-ES" sz="2000" dirty="0" err="1"/>
              <a:t>xsd</a:t>
            </a:r>
            <a:r>
              <a:rPr lang="es-ES" sz="2000" dirty="0"/>
              <a:t>: &lt;http://www.w3.org/2001/</a:t>
            </a:r>
            <a:r>
              <a:rPr lang="es-ES" sz="2000" dirty="0" err="1"/>
              <a:t>XMLSchema</a:t>
            </a:r>
            <a:r>
              <a:rPr lang="es-ES" sz="2000" dirty="0"/>
              <a:t>#&gt;</a:t>
            </a:r>
            <a:endParaRPr lang="es-ES" sz="2000" b="1" dirty="0" smtClean="0">
              <a:solidFill>
                <a:srgbClr val="C0504D"/>
              </a:solidFill>
            </a:endParaRPr>
          </a:p>
          <a:p>
            <a:pPr algn="just"/>
            <a:r>
              <a:rPr lang="es-ES" sz="2000" b="1" dirty="0" smtClean="0">
                <a:solidFill>
                  <a:srgbClr val="C0504D"/>
                </a:solidFill>
              </a:rPr>
              <a:t>SELECT   </a:t>
            </a:r>
            <a:r>
              <a:rPr lang="es-ES" sz="2000" dirty="0"/>
              <a:t>DISTINCT ?</a:t>
            </a:r>
            <a:r>
              <a:rPr lang="es-ES" sz="2000" dirty="0" err="1"/>
              <a:t>name</a:t>
            </a:r>
            <a:r>
              <a:rPr lang="es-ES" sz="2000" dirty="0"/>
              <a:t> ?</a:t>
            </a:r>
            <a:r>
              <a:rPr lang="es-ES" sz="2000" dirty="0" err="1" smtClean="0"/>
              <a:t>birth</a:t>
            </a:r>
            <a:endParaRPr lang="is-IS" sz="20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000" b="1" i="1" dirty="0" smtClean="0">
                <a:solidFill>
                  <a:srgbClr val="C0504D"/>
                </a:solidFill>
              </a:rPr>
              <a:t>WHERE </a:t>
            </a:r>
            <a:r>
              <a:rPr lang="is-IS" sz="2000" b="1" i="1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3"/>
                </a:solidFill>
              </a:rPr>
              <a:t>{</a:t>
            </a:r>
            <a:r>
              <a:rPr lang="is-IS" sz="2000" b="1" i="1" dirty="0" smtClean="0">
                <a:solidFill>
                  <a:schemeClr val="accent1"/>
                </a:solidFill>
              </a:rPr>
              <a:t> </a:t>
            </a:r>
          </a:p>
          <a:p>
            <a:pPr algn="just"/>
            <a:r>
              <a:rPr lang="is-IS" sz="2000" b="1" i="1" dirty="0">
                <a:solidFill>
                  <a:schemeClr val="accent1"/>
                </a:solidFill>
              </a:rPr>
              <a:t>	</a:t>
            </a:r>
            <a:r>
              <a:rPr lang="is-IS" sz="2000" b="1" i="1" dirty="0" smtClean="0">
                <a:solidFill>
                  <a:schemeClr val="accent1"/>
                </a:solidFill>
              </a:rPr>
              <a:t>  ?person       </a:t>
            </a:r>
            <a:r>
              <a:rPr lang="is-IS" sz="2000" b="1" i="1" dirty="0" smtClean="0">
                <a:solidFill>
                  <a:schemeClr val="accent5"/>
                </a:solidFill>
              </a:rPr>
              <a:t>dbo:birthPlace</a:t>
            </a:r>
            <a:r>
              <a:rPr lang="is-IS" sz="2000" b="1" i="1" dirty="0" smtClean="0">
                <a:solidFill>
                  <a:schemeClr val="accent1"/>
                </a:solidFill>
              </a:rPr>
              <a:t>     dbr:London</a:t>
            </a:r>
            <a:r>
              <a:rPr lang="is-IS" sz="2000" dirty="0" smtClean="0">
                <a:solidFill>
                  <a:schemeClr val="accent4"/>
                </a:solidFill>
              </a:rPr>
              <a:t> </a:t>
            </a:r>
            <a:r>
              <a:rPr lang="is-IS" sz="2000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	  ?</a:t>
            </a:r>
            <a:r>
              <a:rPr lang="is-IS" sz="2000" b="1" i="1" dirty="0">
                <a:solidFill>
                  <a:schemeClr val="accent1"/>
                </a:solidFill>
              </a:rPr>
              <a:t>person       </a:t>
            </a:r>
            <a:r>
              <a:rPr lang="is-IS" sz="2000" b="1" i="1" dirty="0" smtClean="0">
                <a:solidFill>
                  <a:schemeClr val="accent5"/>
                </a:solidFill>
              </a:rPr>
              <a:t>dbo:occupation</a:t>
            </a:r>
            <a:r>
              <a:rPr lang="is-IS" sz="2000" b="1" i="1" dirty="0" smtClean="0">
                <a:solidFill>
                  <a:schemeClr val="accent1"/>
                </a:solidFill>
              </a:rPr>
              <a:t>     dbr:Actor</a:t>
            </a:r>
            <a:r>
              <a:rPr lang="is-IS" sz="2000" dirty="0" smtClean="0">
                <a:solidFill>
                  <a:schemeClr val="accent4"/>
                </a:solidFill>
              </a:rPr>
              <a:t> </a:t>
            </a:r>
            <a:r>
              <a:rPr lang="is-IS" sz="2000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	  ?</a:t>
            </a:r>
            <a:r>
              <a:rPr lang="is-IS" sz="2000" b="1" i="1" dirty="0">
                <a:solidFill>
                  <a:schemeClr val="accent1"/>
                </a:solidFill>
              </a:rPr>
              <a:t>person       </a:t>
            </a:r>
            <a:r>
              <a:rPr lang="is-IS" sz="2000" b="1" i="1" dirty="0" smtClean="0">
                <a:solidFill>
                  <a:schemeClr val="accent5"/>
                </a:solidFill>
              </a:rPr>
              <a:t>foat:name</a:t>
            </a:r>
            <a:r>
              <a:rPr lang="is-IS" sz="2000" b="1" i="1" dirty="0" smtClean="0">
                <a:solidFill>
                  <a:schemeClr val="accent1"/>
                </a:solidFill>
              </a:rPr>
              <a:t>     ?name</a:t>
            </a:r>
            <a:r>
              <a:rPr lang="is-IS" sz="2000" dirty="0" smtClean="0">
                <a:solidFill>
                  <a:schemeClr val="accent4"/>
                </a:solidFill>
              </a:rPr>
              <a:t> </a:t>
            </a:r>
            <a:r>
              <a:rPr lang="is-IS" sz="2000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	  ?</a:t>
            </a:r>
            <a:r>
              <a:rPr lang="is-IS" sz="2000" b="1" i="1" dirty="0">
                <a:solidFill>
                  <a:schemeClr val="accent1"/>
                </a:solidFill>
              </a:rPr>
              <a:t>person       </a:t>
            </a:r>
            <a:r>
              <a:rPr lang="is-IS" sz="2000" b="1" i="1" dirty="0" smtClean="0">
                <a:solidFill>
                  <a:schemeClr val="accent5"/>
                </a:solidFill>
              </a:rPr>
              <a:t>dbo:birthDate</a:t>
            </a:r>
            <a:r>
              <a:rPr lang="is-IS" sz="2000" b="1" i="1" dirty="0" smtClean="0">
                <a:solidFill>
                  <a:schemeClr val="accent1"/>
                </a:solidFill>
              </a:rPr>
              <a:t>     ?birth</a:t>
            </a:r>
            <a:r>
              <a:rPr lang="is-IS" sz="2000" dirty="0" smtClean="0">
                <a:solidFill>
                  <a:schemeClr val="accent4"/>
                </a:solidFill>
              </a:rPr>
              <a:t> </a:t>
            </a:r>
            <a:r>
              <a:rPr lang="is-IS" sz="2000" dirty="0" smtClean="0">
                <a:solidFill>
                  <a:schemeClr val="accent1"/>
                </a:solidFill>
              </a:rPr>
              <a:t> </a:t>
            </a:r>
            <a:r>
              <a:rPr lang="is-IS" sz="2000" b="1" i="1" dirty="0" smtClean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is-IS" sz="2000" b="1" i="1" dirty="0">
                <a:solidFill>
                  <a:schemeClr val="accent1"/>
                </a:solidFill>
              </a:rPr>
              <a:t>	</a:t>
            </a:r>
            <a:r>
              <a:rPr lang="is-IS" sz="2000" b="1" i="1" dirty="0" smtClean="0">
                <a:solidFill>
                  <a:schemeClr val="accent1"/>
                </a:solidFill>
              </a:rPr>
              <a:t>FILTER (?birth &gt; “1930-01-01”^^xsd:date) .</a:t>
            </a:r>
          </a:p>
          <a:p>
            <a:pPr algn="just"/>
            <a:r>
              <a:rPr lang="is-IS" sz="2000" b="1" i="1" dirty="0">
                <a:solidFill>
                  <a:schemeClr val="accent1"/>
                </a:solidFill>
              </a:rPr>
              <a:t>	</a:t>
            </a:r>
            <a:r>
              <a:rPr lang="is-IS" sz="2000" b="1" i="1" dirty="0" smtClean="0">
                <a:solidFill>
                  <a:schemeClr val="accent1"/>
                </a:solidFill>
              </a:rPr>
              <a:t>FILTER NOT EXISTS {?person dbo:deathDate ?death. }</a:t>
            </a:r>
            <a:endParaRPr lang="is-IS" sz="2000" b="1" i="1" dirty="0">
              <a:solidFill>
                <a:schemeClr val="accent1"/>
              </a:solidFill>
            </a:endParaRPr>
          </a:p>
          <a:p>
            <a:pPr algn="just"/>
            <a:r>
              <a:rPr lang="is-IS" sz="2000" b="1" i="1" dirty="0" smtClean="0">
                <a:solidFill>
                  <a:schemeClr val="accent1"/>
                </a:solidFill>
              </a:rPr>
              <a:t>		</a:t>
            </a:r>
            <a:r>
              <a:rPr lang="is-IS" sz="2000" b="1" i="1" dirty="0" smtClean="0">
                <a:solidFill>
                  <a:srgbClr val="9BBB59"/>
                </a:solidFill>
              </a:rPr>
              <a:t>}</a:t>
            </a:r>
            <a:endParaRPr lang="es-ES" sz="2000" i="1" dirty="0" smtClean="0">
              <a:solidFill>
                <a:srgbClr val="9BBB59"/>
              </a:solidFill>
            </a:endParaRPr>
          </a:p>
        </p:txBody>
      </p:sp>
      <p:cxnSp>
        <p:nvCxnSpPr>
          <p:cNvPr id="17" name="Conector recto 16"/>
          <p:cNvCxnSpPr/>
          <p:nvPr/>
        </p:nvCxnSpPr>
        <p:spPr>
          <a:xfrm flipH="1">
            <a:off x="275698" y="2145168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18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EJERCICIOS PRÁCTICOS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14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50381" y="1207396"/>
            <a:ext cx="8603760" cy="5324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000" b="1" dirty="0" smtClean="0"/>
              <a:t>Consultar en:</a:t>
            </a:r>
          </a:p>
          <a:p>
            <a:pPr algn="just"/>
            <a:endParaRPr lang="es-ES" sz="2000" b="1" dirty="0" smtClean="0"/>
          </a:p>
          <a:p>
            <a:pPr algn="just"/>
            <a:r>
              <a:rPr lang="es-ES" sz="2000" b="1" dirty="0" err="1" smtClean="0"/>
              <a:t>DBpedia</a:t>
            </a:r>
            <a:r>
              <a:rPr lang="es-ES" sz="2000" b="1" dirty="0" smtClean="0"/>
              <a:t> </a:t>
            </a:r>
            <a:r>
              <a:rPr lang="es-ES" sz="2000" dirty="0" smtClean="0"/>
              <a:t>que es la versión de la Wikipedia en RDF los </a:t>
            </a:r>
          </a:p>
          <a:p>
            <a:pPr algn="just"/>
            <a:r>
              <a:rPr lang="es-ES" sz="2000" dirty="0"/>
              <a:t>a</a:t>
            </a:r>
            <a:r>
              <a:rPr lang="es-ES" sz="2000" dirty="0" smtClean="0"/>
              <a:t>nteriores ejemplos.</a:t>
            </a:r>
          </a:p>
          <a:p>
            <a:pPr algn="just"/>
            <a:endParaRPr lang="es-ES" sz="2000" dirty="0"/>
          </a:p>
          <a:p>
            <a:pPr marL="457200" indent="-457200" algn="just">
              <a:buAutoNum type="arabicPeriod"/>
            </a:pPr>
            <a:r>
              <a:rPr lang="es-ES" sz="2000" dirty="0" smtClean="0"/>
              <a:t>A través de</a:t>
            </a:r>
            <a:r>
              <a:rPr lang="es-ES" sz="2000" dirty="0"/>
              <a:t>: </a:t>
            </a:r>
            <a:r>
              <a:rPr lang="es-ES" sz="2000" dirty="0">
                <a:hlinkClick r:id="rId4"/>
              </a:rPr>
              <a:t>http://es.dbpedia.org/page/</a:t>
            </a:r>
            <a:r>
              <a:rPr lang="es-ES" sz="2000" dirty="0" smtClean="0">
                <a:hlinkClick r:id="rId4"/>
              </a:rPr>
              <a:t>Lionel_Messi</a:t>
            </a:r>
            <a:endParaRPr lang="es-ES" sz="2000" dirty="0" smtClean="0"/>
          </a:p>
          <a:p>
            <a:pPr marL="457200" indent="-457200" algn="just">
              <a:buAutoNum type="arabicPeriod"/>
            </a:pPr>
            <a:r>
              <a:rPr lang="es-ES" sz="2000" dirty="0"/>
              <a:t>A través de: </a:t>
            </a:r>
            <a:r>
              <a:rPr lang="es-ES" sz="2000" dirty="0">
                <a:hlinkClick r:id="rId5"/>
              </a:rPr>
              <a:t>http://dbpedia.org/sparql</a:t>
            </a:r>
            <a:r>
              <a:rPr lang="es-ES" sz="2000" dirty="0" smtClean="0">
                <a:hlinkClick r:id="rId5"/>
              </a:rPr>
              <a:t>/</a:t>
            </a:r>
            <a:endParaRPr lang="es-ES" sz="2000" dirty="0" smtClean="0"/>
          </a:p>
          <a:p>
            <a:pPr marL="457200" indent="-457200" algn="just">
              <a:buAutoNum type="arabicPeriod"/>
            </a:pPr>
            <a:r>
              <a:rPr lang="es-ES" sz="2000" dirty="0"/>
              <a:t>A través de: </a:t>
            </a:r>
            <a:r>
              <a:rPr lang="es-ES" sz="2000" dirty="0">
                <a:hlinkClick r:id="rId6"/>
              </a:rPr>
              <a:t>http://es.dbpedia.org/</a:t>
            </a:r>
            <a:r>
              <a:rPr lang="es-ES" sz="2000" dirty="0" smtClean="0">
                <a:hlinkClick r:id="rId6"/>
              </a:rPr>
              <a:t>sparql</a:t>
            </a:r>
            <a:endParaRPr lang="es-ES" sz="2000" dirty="0" smtClean="0"/>
          </a:p>
          <a:p>
            <a:pPr algn="just"/>
            <a:endParaRPr lang="es-ES" sz="2000" dirty="0" smtClean="0"/>
          </a:p>
          <a:p>
            <a:pPr algn="just"/>
            <a:r>
              <a:rPr lang="es-ES" sz="2000" dirty="0" smtClean="0"/>
              <a:t>Existen otros sitios para realizar consultas:</a:t>
            </a:r>
          </a:p>
          <a:p>
            <a:pPr algn="just"/>
            <a:endParaRPr lang="es-ES" sz="2000" dirty="0"/>
          </a:p>
          <a:p>
            <a:pPr marL="457200" indent="-457200" algn="just">
              <a:buAutoNum type="arabicPeriod"/>
            </a:pPr>
            <a:r>
              <a:rPr lang="es-ES" sz="2000" dirty="0" smtClean="0">
                <a:hlinkClick r:id="rId7"/>
              </a:rPr>
              <a:t>http</a:t>
            </a:r>
            <a:r>
              <a:rPr lang="es-ES" sz="2000" dirty="0">
                <a:hlinkClick r:id="rId7"/>
              </a:rPr>
              <a:t>://dbpedia.org/snorql</a:t>
            </a:r>
            <a:r>
              <a:rPr lang="es-ES" sz="2000" dirty="0" smtClean="0">
                <a:hlinkClick r:id="rId7"/>
              </a:rPr>
              <a:t>/</a:t>
            </a:r>
            <a:endParaRPr lang="es-ES" sz="2000" dirty="0" smtClean="0"/>
          </a:p>
          <a:p>
            <a:pPr marL="457200" indent="-457200" algn="just">
              <a:buAutoNum type="arabicPeriod"/>
            </a:pPr>
            <a:r>
              <a:rPr lang="es-ES" sz="2000" dirty="0">
                <a:hlinkClick r:id="rId8"/>
              </a:rPr>
              <a:t>http://legacy.yasgui.org</a:t>
            </a:r>
            <a:r>
              <a:rPr lang="es-ES" sz="2000" dirty="0" smtClean="0">
                <a:hlinkClick r:id="rId8"/>
              </a:rPr>
              <a:t>/</a:t>
            </a:r>
            <a:endParaRPr lang="es-ES" sz="2000" dirty="0" smtClean="0"/>
          </a:p>
          <a:p>
            <a:pPr algn="just"/>
            <a:endParaRPr lang="es-ES" sz="2000" dirty="0"/>
          </a:p>
          <a:p>
            <a:pPr algn="just"/>
            <a:r>
              <a:rPr lang="es-ES" sz="2000" dirty="0" smtClean="0"/>
              <a:t>A los anteriores sitios web, se les denomina </a:t>
            </a:r>
          </a:p>
          <a:p>
            <a:pPr algn="just"/>
            <a:r>
              <a:rPr lang="es-ES" sz="2000" dirty="0" smtClean="0"/>
              <a:t>SPARQL </a:t>
            </a:r>
            <a:r>
              <a:rPr lang="es-ES" sz="2000" dirty="0" err="1" smtClean="0"/>
              <a:t>endpoint</a:t>
            </a:r>
            <a:r>
              <a:rPr lang="es-ES" sz="2000" dirty="0" smtClean="0"/>
              <a:t>.</a:t>
            </a:r>
          </a:p>
          <a:p>
            <a:pPr algn="just"/>
            <a:endParaRPr lang="es-ES" sz="2000" dirty="0"/>
          </a:p>
        </p:txBody>
      </p:sp>
      <p:sp>
        <p:nvSpPr>
          <p:cNvPr id="12" name="12 Rectángulo redondeado"/>
          <p:cNvSpPr/>
          <p:nvPr/>
        </p:nvSpPr>
        <p:spPr>
          <a:xfrm>
            <a:off x="6386876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Ejercicios</a:t>
            </a:r>
            <a:r>
              <a:rPr lang="es-ES" sz="1200" b="1" baseline="0" dirty="0" smtClean="0">
                <a:solidFill>
                  <a:schemeClr val="bg1"/>
                </a:solidFill>
                <a:latin typeface="Arial"/>
                <a:cs typeface="Arial"/>
              </a:rPr>
              <a:t> prácticos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" name="Imagen 2" descr="Messi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060" y="1207396"/>
            <a:ext cx="2776936" cy="4675067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6165621" y="5814781"/>
            <a:ext cx="307308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Fuente: www.wikipedia.org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446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EJERCICIOS PRÁCTICOS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15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50381" y="1207396"/>
            <a:ext cx="8603760" cy="4832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200" b="1" dirty="0" smtClean="0"/>
              <a:t>¿Podemos retornar los resultados en un grafo RDF y no en tablas?</a:t>
            </a:r>
          </a:p>
          <a:p>
            <a:pPr algn="just"/>
            <a:endParaRPr lang="es-ES" sz="2200" b="1" dirty="0"/>
          </a:p>
          <a:p>
            <a:pPr algn="just"/>
            <a:r>
              <a:rPr lang="es-ES" sz="2200" dirty="0" smtClean="0"/>
              <a:t>Si se puede hacer con consultas </a:t>
            </a:r>
            <a:r>
              <a:rPr lang="es-ES" sz="2200" u="sng" dirty="0" smtClean="0">
                <a:solidFill>
                  <a:schemeClr val="accent2"/>
                </a:solidFill>
              </a:rPr>
              <a:t>CONSTRUCT</a:t>
            </a:r>
            <a:r>
              <a:rPr lang="es-ES" sz="2200" dirty="0" smtClean="0"/>
              <a:t>, ya que permite obtener los resultados en forma de </a:t>
            </a:r>
            <a:r>
              <a:rPr lang="es-ES" sz="2200" u="sng" dirty="0" smtClean="0">
                <a:solidFill>
                  <a:srgbClr val="C0504D"/>
                </a:solidFill>
              </a:rPr>
              <a:t>grafo RDF</a:t>
            </a:r>
            <a:r>
              <a:rPr lang="es-ES" sz="2200" dirty="0" smtClean="0"/>
              <a:t>, en lugar de una tabla.</a:t>
            </a:r>
          </a:p>
          <a:p>
            <a:pPr algn="just"/>
            <a:endParaRPr lang="es-ES" sz="2200" dirty="0"/>
          </a:p>
          <a:p>
            <a:pPr algn="just"/>
            <a:r>
              <a:rPr lang="es-ES" sz="2200" b="1" dirty="0" smtClean="0"/>
              <a:t>SINTAXIS: </a:t>
            </a:r>
            <a:r>
              <a:rPr lang="es-ES" sz="2200" dirty="0" smtClean="0"/>
              <a:t>RDF como entrada, RDF  como salida.</a:t>
            </a:r>
          </a:p>
          <a:p>
            <a:pPr algn="just"/>
            <a:endParaRPr lang="es-ES" sz="2200" b="1" dirty="0"/>
          </a:p>
          <a:p>
            <a:pPr algn="just"/>
            <a:r>
              <a:rPr lang="es-ES" sz="2200" b="1" dirty="0" smtClean="0"/>
              <a:t>CONSTRUCT &lt;plantilla&gt;  WHERE {</a:t>
            </a:r>
          </a:p>
          <a:p>
            <a:pPr algn="just"/>
            <a:endParaRPr lang="es-ES" sz="2200" b="1" dirty="0"/>
          </a:p>
          <a:p>
            <a:pPr algn="just"/>
            <a:r>
              <a:rPr lang="es-ES" sz="2200" b="1" dirty="0" smtClean="0"/>
              <a:t>			&lt;patrón&gt;</a:t>
            </a:r>
          </a:p>
          <a:p>
            <a:pPr algn="just"/>
            <a:endParaRPr lang="es-ES" sz="2200" b="1" dirty="0"/>
          </a:p>
          <a:p>
            <a:pPr algn="just"/>
            <a:r>
              <a:rPr lang="es-ES" sz="2200" b="1" dirty="0" smtClean="0"/>
              <a:t>}</a:t>
            </a:r>
            <a:endParaRPr lang="es-ES" sz="2200" b="1" dirty="0"/>
          </a:p>
          <a:p>
            <a:pPr algn="just"/>
            <a:r>
              <a:rPr lang="es-ES" sz="2200" dirty="0" smtClean="0"/>
              <a:t>La plantilla es un conjunto de triples con variables.</a:t>
            </a:r>
          </a:p>
          <a:p>
            <a:pPr algn="ctr"/>
            <a:r>
              <a:rPr lang="es-ES" sz="2200" b="1" dirty="0" smtClean="0"/>
              <a:t>Aplicar esta consulta a DOS de los ejemplos anteriores</a:t>
            </a:r>
            <a:r>
              <a:rPr lang="es-ES" sz="2200" dirty="0" smtClean="0"/>
              <a:t>.</a:t>
            </a:r>
          </a:p>
        </p:txBody>
      </p:sp>
      <p:sp>
        <p:nvSpPr>
          <p:cNvPr id="12" name="12 Rectángulo redondeado"/>
          <p:cNvSpPr/>
          <p:nvPr/>
        </p:nvSpPr>
        <p:spPr>
          <a:xfrm>
            <a:off x="6386876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Ejercicios</a:t>
            </a:r>
            <a:r>
              <a:rPr lang="es-ES" sz="1200" b="1" baseline="0" dirty="0" smtClean="0">
                <a:solidFill>
                  <a:schemeClr val="bg1"/>
                </a:solidFill>
                <a:latin typeface="Arial"/>
                <a:cs typeface="Arial"/>
              </a:rPr>
              <a:t> prácticos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960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EJERCICIOS PRÁCTICOS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16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6709" y="1207396"/>
            <a:ext cx="8603760" cy="2862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000" b="1" dirty="0" smtClean="0"/>
              <a:t>Algunos SPARQL </a:t>
            </a:r>
            <a:r>
              <a:rPr lang="es-ES" sz="2000" b="1" dirty="0" err="1" smtClean="0"/>
              <a:t>endpoints</a:t>
            </a:r>
            <a:r>
              <a:rPr lang="es-ES" sz="2000" b="1" dirty="0" smtClean="0"/>
              <a:t>:</a:t>
            </a:r>
          </a:p>
          <a:p>
            <a:pPr algn="just"/>
            <a:endParaRPr lang="es-ES" sz="2000" b="1" dirty="0"/>
          </a:p>
          <a:p>
            <a:pPr algn="just"/>
            <a:endParaRPr lang="es-ES" sz="2000" b="1" dirty="0" smtClean="0"/>
          </a:p>
          <a:p>
            <a:pPr algn="just"/>
            <a:endParaRPr lang="es-ES" sz="2000" b="1" dirty="0"/>
          </a:p>
          <a:p>
            <a:pPr algn="just"/>
            <a:endParaRPr lang="es-ES" sz="2000" b="1" dirty="0" smtClean="0"/>
          </a:p>
          <a:p>
            <a:pPr algn="just"/>
            <a:r>
              <a:rPr lang="es-ES" sz="2000" b="1" dirty="0" smtClean="0"/>
              <a:t>Cada circulo representa una </a:t>
            </a:r>
          </a:p>
          <a:p>
            <a:pPr algn="just"/>
            <a:r>
              <a:rPr lang="es-ES" sz="2000" b="1" dirty="0" smtClean="0"/>
              <a:t>Base de datos RDF.</a:t>
            </a:r>
          </a:p>
          <a:p>
            <a:pPr algn="just"/>
            <a:endParaRPr lang="es-ES" sz="2000" b="1" dirty="0" smtClean="0"/>
          </a:p>
          <a:p>
            <a:pPr algn="just"/>
            <a:endParaRPr lang="es-ES" sz="2000" dirty="0"/>
          </a:p>
        </p:txBody>
      </p:sp>
      <p:sp>
        <p:nvSpPr>
          <p:cNvPr id="12" name="12 Rectángulo redondeado"/>
          <p:cNvSpPr/>
          <p:nvPr/>
        </p:nvSpPr>
        <p:spPr>
          <a:xfrm>
            <a:off x="6386876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Ejercicios</a:t>
            </a:r>
            <a:r>
              <a:rPr lang="es-ES" sz="1200" b="1" baseline="0" dirty="0" smtClean="0">
                <a:solidFill>
                  <a:schemeClr val="bg1"/>
                </a:solidFill>
                <a:latin typeface="Arial"/>
                <a:cs typeface="Arial"/>
              </a:rPr>
              <a:t> prácticos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2071916" y="5580819"/>
            <a:ext cx="307308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Fuente: </a:t>
            </a:r>
            <a:r>
              <a:rPr lang="es-ES" b="1" dirty="0" err="1" smtClean="0"/>
              <a:t>www.lod-cloud.net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587" y="1207396"/>
            <a:ext cx="6030734" cy="52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65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-346075"/>
            <a:ext cx="6997700" cy="182086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 smtClean="0">
                <a:solidFill>
                  <a:srgbClr val="0070C0"/>
                </a:solidFill>
                <a:latin typeface="+mj-lt"/>
                <a:cs typeface="Calibri (título)"/>
              </a:rPr>
              <a:t>EJERCICIOS PRÁCTICOS</a:t>
            </a:r>
            <a:endParaRPr lang="es-ES" sz="3600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00508" y="110861"/>
            <a:ext cx="8603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200508" y="1109511"/>
            <a:ext cx="8603760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" y="177708"/>
            <a:ext cx="805614" cy="90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233662"/>
            <a:ext cx="869151" cy="808390"/>
          </a:xfrm>
          <a:prstGeom prst="rect">
            <a:avLst/>
          </a:prstGeom>
          <a:noFill/>
        </p:spPr>
      </p:pic>
      <p:sp>
        <p:nvSpPr>
          <p:cNvPr id="24" name="CuadroTexto 23"/>
          <p:cNvSpPr txBox="1"/>
          <p:nvPr/>
        </p:nvSpPr>
        <p:spPr>
          <a:xfrm>
            <a:off x="8523609" y="6323000"/>
            <a:ext cx="62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17</a:t>
            </a:r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275698" y="1243766"/>
            <a:ext cx="8603760" cy="156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2800" b="1" dirty="0" smtClean="0"/>
              <a:t>Aplicaci</a:t>
            </a:r>
            <a:r>
              <a:rPr lang="es-ES" sz="2800" b="1" dirty="0" smtClean="0"/>
              <a:t>ón: HIPROOR BUSCADOR DE PROCEDIMIENTO “PRESENTAR Y DEFENDER LA TESIS DOCTORAL UC3M” </a:t>
            </a:r>
            <a:endParaRPr lang="es-ES" sz="2800" b="1" dirty="0" smtClean="0"/>
          </a:p>
          <a:p>
            <a:pPr algn="just"/>
            <a:endParaRPr lang="es-ES" sz="2000" b="1" dirty="0" smtClean="0"/>
          </a:p>
          <a:p>
            <a:pPr algn="just"/>
            <a:endParaRPr lang="es-ES" sz="2000" dirty="0"/>
          </a:p>
        </p:txBody>
      </p:sp>
      <p:sp>
        <p:nvSpPr>
          <p:cNvPr id="12" name="12 Rectángulo redondeado"/>
          <p:cNvSpPr/>
          <p:nvPr/>
        </p:nvSpPr>
        <p:spPr>
          <a:xfrm>
            <a:off x="6386876" y="6308760"/>
            <a:ext cx="1221882" cy="46568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 smtClean="0">
                <a:solidFill>
                  <a:schemeClr val="bg1"/>
                </a:solidFill>
                <a:latin typeface="Arial"/>
                <a:cs typeface="Arial"/>
              </a:rPr>
              <a:t>Ejercicios</a:t>
            </a:r>
            <a:r>
              <a:rPr lang="es-ES" sz="1200" b="1" baseline="0" dirty="0" smtClean="0">
                <a:solidFill>
                  <a:schemeClr val="bg1"/>
                </a:solidFill>
                <a:latin typeface="Arial"/>
                <a:cs typeface="Arial"/>
              </a:rPr>
              <a:t> prácticos</a:t>
            </a:r>
            <a:endParaRPr lang="es-CO" sz="1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612" y="2256058"/>
            <a:ext cx="5988119" cy="376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8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81312" y="1956904"/>
            <a:ext cx="6997700" cy="1820862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b="1" dirty="0" smtClean="0">
                <a:solidFill>
                  <a:srgbClr val="0070C0"/>
                </a:solidFill>
                <a:latin typeface="+mj-lt"/>
                <a:cs typeface="Calibri (título)"/>
              </a:rPr>
              <a:t>MUCHAS GRACIAS</a:t>
            </a:r>
            <a:endParaRPr lang="es-ES" b="1" dirty="0">
              <a:solidFill>
                <a:srgbClr val="0070C0"/>
              </a:solidFill>
              <a:latin typeface="+mj-lt"/>
              <a:cs typeface="Calibri (título)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593873" y="4322606"/>
            <a:ext cx="6047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>
                <a:cs typeface="Calibri (cuerpo)"/>
              </a:rPr>
              <a:t>Ing. Juan Manuel Chagüendo Benavides</a:t>
            </a:r>
            <a:endParaRPr lang="es-ES" sz="2400" b="1" dirty="0">
              <a:cs typeface="Calibri (cuerpo)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098021" y="5397458"/>
            <a:ext cx="69656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>
                <a:cs typeface="Calibri (cuerpo)"/>
              </a:rPr>
              <a:t>Maestría en Computación</a:t>
            </a:r>
            <a:endParaRPr lang="es-ES" sz="2000" b="1" dirty="0">
              <a:cs typeface="Calibri (cuerpo)"/>
            </a:endParaRPr>
          </a:p>
          <a:p>
            <a:pPr algn="ctr"/>
            <a:r>
              <a:rPr lang="es-ES" sz="2000" b="1" dirty="0">
                <a:cs typeface="Calibri (cuerpo)"/>
              </a:rPr>
              <a:t>Facultad de Ingeniería Electrónica y Telecomunicaciones</a:t>
            </a:r>
          </a:p>
          <a:p>
            <a:pPr algn="ctr"/>
            <a:r>
              <a:rPr lang="es-ES" sz="2000" b="1" dirty="0">
                <a:cs typeface="Calibri (cuerpo)"/>
              </a:rPr>
              <a:t>Universidad del Cauca</a:t>
            </a:r>
          </a:p>
          <a:p>
            <a:pPr algn="ctr"/>
            <a:r>
              <a:rPr lang="es-ES" sz="2000" b="1" dirty="0" smtClean="0">
                <a:cs typeface="Calibri (cuerpo)"/>
              </a:rPr>
              <a:t>E</a:t>
            </a:r>
            <a:r>
              <a:rPr lang="es-ES" sz="2000" b="1" dirty="0">
                <a:cs typeface="Calibri (cuerpo)"/>
              </a:rPr>
              <a:t>-mail: </a:t>
            </a:r>
            <a:r>
              <a:rPr lang="es-ES" sz="2000" b="1" dirty="0" err="1">
                <a:cs typeface="Calibri (cuerpo)"/>
              </a:rPr>
              <a:t>manuelcb@</a:t>
            </a:r>
            <a:r>
              <a:rPr lang="es-ES" sz="2000" b="1" dirty="0" err="1" smtClean="0">
                <a:cs typeface="Calibri (cuerpo)"/>
              </a:rPr>
              <a:t>unicauca.edu.co</a:t>
            </a:r>
            <a:endParaRPr lang="es-ES" sz="2000" b="1" dirty="0">
              <a:cs typeface="Calibri (cuerpo)"/>
            </a:endParaRPr>
          </a:p>
          <a:p>
            <a:pPr algn="ctr"/>
            <a:r>
              <a:rPr lang="es-ES" sz="2000" b="1" dirty="0">
                <a:cs typeface="Calibri (cuerpo)"/>
              </a:rPr>
              <a:t>           </a:t>
            </a:r>
          </a:p>
        </p:txBody>
      </p:sp>
      <p:pic>
        <p:nvPicPr>
          <p:cNvPr id="1026" name="Picture 2" descr="Resultado de imagen para escudos unicau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0" y="111210"/>
            <a:ext cx="863959" cy="97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G:\Copia de 226282_10150169846844116_673844115_6760939_1516401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5117" y="166814"/>
            <a:ext cx="988544" cy="919436"/>
          </a:xfrm>
          <a:prstGeom prst="rect">
            <a:avLst/>
          </a:prstGeom>
          <a:noFill/>
        </p:spPr>
      </p:pic>
      <p:cxnSp>
        <p:nvCxnSpPr>
          <p:cNvPr id="5" name="Conector recto 4"/>
          <p:cNvCxnSpPr/>
          <p:nvPr/>
        </p:nvCxnSpPr>
        <p:spPr>
          <a:xfrm flipH="1">
            <a:off x="416348" y="1956904"/>
            <a:ext cx="83879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416348" y="3767736"/>
            <a:ext cx="8387919" cy="10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agen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89" y="434503"/>
            <a:ext cx="2290020" cy="456104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482" y="434504"/>
            <a:ext cx="2352536" cy="4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13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20919</TotalTime>
  <Words>986</Words>
  <Application>Microsoft Macintosh PowerPoint</Application>
  <PresentationFormat>Presentación en pantalla (4:3)</PresentationFormat>
  <Paragraphs>210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Tema de Office</vt:lpstr>
      <vt:lpstr>SPARQL (Simple Protocol and RDF Query Language)</vt:lpstr>
      <vt:lpstr>Agenda</vt:lpstr>
      <vt:lpstr>Tim Berners-Lee dijo:</vt:lpstr>
      <vt:lpstr>Estándares para la web semántica</vt:lpstr>
      <vt:lpstr>Archivo RDF almacenado</vt:lpstr>
      <vt:lpstr>Acceso a los datos RDF</vt:lpstr>
      <vt:lpstr>Definiciones</vt:lpstr>
      <vt:lpstr>Elementos consulta SPARQL</vt:lpstr>
      <vt:lpstr>Operadores en SPARQL</vt:lpstr>
      <vt:lpstr>Sintaxis de consulta SPARQL</vt:lpstr>
      <vt:lpstr>EJEMPLOS</vt:lpstr>
      <vt:lpstr>EJEMPLOS</vt:lpstr>
      <vt:lpstr>EJEMPLOS</vt:lpstr>
      <vt:lpstr>EJEMPLOS</vt:lpstr>
      <vt:lpstr>EJEMPLOS</vt:lpstr>
      <vt:lpstr>EJERCICIOS PRÁCTICOS</vt:lpstr>
      <vt:lpstr>EJERCICIOS PRÁCTICOS</vt:lpstr>
      <vt:lpstr>EJERCICIOS PRÁCTICOS</vt:lpstr>
      <vt:lpstr>EJERCICIOS PRÁCTICOS</vt:lpstr>
      <vt:lpstr>MUCHAS GRACIAS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TRABAJO DE GRADO  FACULTAD DE INGENIERÍA</dc:title>
  <dc:creator>juanma9206</dc:creator>
  <cp:lastModifiedBy>juanma9206</cp:lastModifiedBy>
  <cp:revision>1558</cp:revision>
  <cp:lastPrinted>2016-05-04T22:54:29Z</cp:lastPrinted>
  <dcterms:created xsi:type="dcterms:W3CDTF">2016-03-16T22:52:50Z</dcterms:created>
  <dcterms:modified xsi:type="dcterms:W3CDTF">2017-04-27T19:40:50Z</dcterms:modified>
</cp:coreProperties>
</file>